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return %</c:v>
                </c:pt>
              </c:strCache>
            </c:strRef>
          </c:tx>
          <c:spPr>
            <a:solidFill>
              <a:srgbClr val="1E2761"/>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Mean Reversion</c:v>
                  </c:pt>
                  <c:pt idx="2">
                    <c:v>4-strategy blend</c:v>
                  </c:pt>
                  <c:pt idx="3">
                    <c:v>Trend Following</c:v>
                  </c:pt>
                  <c:pt idx="4">
                    <c:v>Dual Momentum</c:v>
                  </c:pt>
                </c:lvl>
              </c:multiLvlStrCache>
            </c:multiLvlStrRef>
          </c:cat>
          <c:val>
            <c:numRef>
              <c:f>Sheet1!$B$2:$B$6</c:f>
              <c:numCache>
                <c:formatCode>General</c:formatCode>
                <c:ptCount val="5"/>
                <c:pt idx="0">
                  <c:v>23.68</c:v>
                </c:pt>
                <c:pt idx="1">
                  <c:v>20.18</c:v>
                </c:pt>
                <c:pt idx="2">
                  <c:v>19.2</c:v>
                </c:pt>
                <c:pt idx="3">
                  <c:v>17.55</c:v>
                </c:pt>
                <c:pt idx="4">
                  <c:v>14.07</c:v>
                </c:pt>
              </c:numCache>
            </c:numRef>
          </c:val>
        </c:ser>
        <c:ser>
          <c:idx val="1"/>
          <c:order val="1"/>
          <c:tx>
            <c:strRef>
              <c:f>Sheet1!$C$1</c:f>
              <c:strCache>
                <c:ptCount val="1"/>
                <c:pt idx="0">
                  <c:v>Max drawdown %</c:v>
                </c:pt>
              </c:strCache>
            </c:strRef>
          </c:tx>
          <c:spPr>
            <a:solidFill>
              <a:srgbClr val="C8871B"/>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Mean Reversion</c:v>
                  </c:pt>
                  <c:pt idx="2">
                    <c:v>4-strategy blend</c:v>
                  </c:pt>
                  <c:pt idx="3">
                    <c:v>Trend Following</c:v>
                  </c:pt>
                  <c:pt idx="4">
                    <c:v>Dual Momentum</c:v>
                  </c:pt>
                </c:lvl>
              </c:multiLvlStrCache>
            </c:multiLvlStrRef>
          </c:cat>
          <c:val>
            <c:numRef>
              <c:f>Sheet1!$C$2:$C$6</c:f>
              <c:numCache>
                <c:formatCode>General</c:formatCode>
                <c:ptCount val="5"/>
                <c:pt idx="0">
                  <c:v>37.76</c:v>
                </c:pt>
                <c:pt idx="1">
                  <c:v>22.62</c:v>
                </c:pt>
                <c:pt idx="2">
                  <c:v>23.67</c:v>
                </c:pt>
                <c:pt idx="3">
                  <c:v>30.61</c:v>
                </c:pt>
                <c:pt idx="4">
                  <c:v>28.94</c:v>
                </c:pt>
              </c:numCache>
            </c:numRef>
          </c:val>
        </c:ser>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B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the company is: research infrastructure for systematic trading. The single differentiator is that the system is built to be checkable — it reports what it does not know. Do not open with returns; the returns slide is deliberately later and is not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not hypothetical — all three were found and fixed in this codebase, and the deck names them later. Point 3 is the one professional allocators care most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columns are the product. Refusal is the hardest to build and the easiest to explain: a system that says 'I don't know' is worth more than one that guesses convincingly.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has it done live' — answer directly: it is a simulated paper book, no real-money order has been placed, and anyone quoting live performance after a few weeks of paper trading is telling you something about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choice is the point. Comparing against the same instruments equal-weighted is the hardest fair test; most decks compare against something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The −3.5 / −15.1 framing is the actual proposition: same ballpark return for materially less pain. An allocator who can tolerate a 38% drawdown should buy the index, and saying so builds more credibility than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of the study — combining everything made it worse — is the most interesting result and the one most likely to start a real conversation with a quant-literate investor.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Presenting limitations you found yourself, before being asked, is the strongest available signal that the favourable numbers were measured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pitch. Anyone can produce a backtest; the scarce skill is catching the errors that make backtests lie. Two of the eight were caught by the founder auditing generated code — that is the working method being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the roadmap with the test that could disprove the product is unusual and is the point. If the walk-forward fails, that is worth knowing before more money goes in,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money builds and validates the platform; none of it is traded. Tie the raise to the validation milestone, not to a return target. Promising a return figure from evidence this thin is exactly the behaviour the rest of the deck argues against. Be ready to justify £1,000,000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two-column split. Ending on what is not proven is the strongest note available — it tells the investor that everything in the left column was held to the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2057400"/>
            <a:ext cx="1005840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Trade Assistant</a:t>
            </a:r>
            <a:endParaRPr lang="en-US" sz="5200" dirty="0"/>
          </a:p>
        </p:txBody>
      </p:sp>
      <p:sp>
        <p:nvSpPr>
          <p:cNvPr id="3" name="Text 1"/>
          <p:cNvSpPr/>
          <p:nvPr/>
        </p:nvSpPr>
        <p:spPr>
          <a:xfrm>
            <a:off x="822960" y="2971800"/>
            <a:ext cx="9509760" cy="54864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systematic research platform that refuses to overstate what it knows</a:t>
            </a:r>
            <a:endParaRPr lang="en-US" sz="1900" dirty="0"/>
          </a:p>
        </p:txBody>
      </p:sp>
      <p:sp>
        <p:nvSpPr>
          <p:cNvPr id="4" name="Shape 2"/>
          <p:cNvSpPr/>
          <p:nvPr/>
        </p:nvSpPr>
        <p:spPr>
          <a:xfrm>
            <a:off x="822960" y="3794760"/>
            <a:ext cx="2011680" cy="0"/>
          </a:xfrm>
          <a:prstGeom prst="line">
            <a:avLst/>
          </a:prstGeom>
          <a:noFill/>
          <a:ln w="31750">
            <a:solidFill>
              <a:srgbClr val="C8871B"/>
            </a:solidFill>
            <a:prstDash val="solid"/>
          </a:ln>
        </p:spPr>
      </p:sp>
      <p:sp>
        <p:nvSpPr>
          <p:cNvPr id="5" name="Text 3"/>
          <p:cNvSpPr/>
          <p:nvPr/>
        </p:nvSpPr>
        <p:spPr>
          <a:xfrm>
            <a:off x="822960" y="4114800"/>
            <a:ext cx="10058400" cy="822960"/>
          </a:xfrm>
          <a:prstGeom prst="rect">
            <a:avLst/>
          </a:prstGeom>
          <a:noFill/>
          <a:ln/>
        </p:spPr>
        <p:txBody>
          <a:bodyPr wrap="square" lIns="0" tIns="0" rIns="0" bIns="0" rtlCol="0" anchor="ctr"/>
          <a:lstStyle/>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12 strategies from published papers   ·   528 instruments   ·   8.94 years</a:t>
            </a:r>
            <a:endParaRPr lang="en-US" sz="1350" dirty="0"/>
          </a:p>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62,319 signals   ·   725 automated tests   ·   live on licensed broker data</a:t>
            </a:r>
            <a:endParaRPr lang="en-US" sz="1350" dirty="0"/>
          </a:p>
        </p:txBody>
      </p:sp>
      <p:sp>
        <p:nvSpPr>
          <p:cNvPr id="6" name="Text 4"/>
          <p:cNvSpPr/>
          <p:nvPr/>
        </p:nvSpPr>
        <p:spPr>
          <a:xfrm>
            <a:off x="822960" y="6035040"/>
            <a:ext cx="10058400" cy="320040"/>
          </a:xfrm>
          <a:prstGeom prst="rect">
            <a:avLst/>
          </a:prstGeom>
          <a:noFill/>
          <a:ln/>
        </p:spPr>
        <p:txBody>
          <a:bodyPr wrap="square" lIns="0" tIns="0" rIns="0" bIns="0" rtlCol="0" anchor="ctr"/>
          <a:lstStyle/>
          <a:p>
            <a:pPr indent="0" marL="0">
              <a:buNone/>
            </a:pPr>
            <a:r>
              <a:rPr lang="en-US" sz="1050" dirty="0">
                <a:solidFill>
                  <a:srgbClr val="5A6B8C"/>
                </a:solidFill>
                <a:latin typeface="Calibri" pitchFamily="34" charset="0"/>
                <a:ea typeface="Calibri" pitchFamily="34" charset="-122"/>
                <a:cs typeface="Calibri" pitchFamily="34" charset="-120"/>
              </a:rPr>
              <a:t>Investor briefing  ·  6 September 2026  ·  Research only — not financial advice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Most trading research quietly lies about its own data</a:t>
            </a:r>
            <a:endParaRPr lang="en-US" sz="3400" dirty="0"/>
          </a:p>
        </p:txBody>
      </p:sp>
      <p:sp>
        <p:nvSpPr>
          <p:cNvPr id="4" name="Shape 2"/>
          <p:cNvSpPr/>
          <p:nvPr/>
        </p:nvSpPr>
        <p:spPr>
          <a:xfrm>
            <a:off x="640080" y="18288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914400" y="2212848"/>
            <a:ext cx="420624" cy="420624"/>
          </a:xfrm>
          <a:prstGeom prst="ellipse">
            <a:avLst/>
          </a:prstGeom>
          <a:solidFill>
            <a:srgbClr val="1E2761"/>
          </a:solidFill>
          <a:ln w="12700">
            <a:solidFill>
              <a:srgbClr val="1E2761"/>
            </a:solidFill>
            <a:prstDash val="solid"/>
          </a:ln>
        </p:spPr>
      </p:sp>
      <p:sp>
        <p:nvSpPr>
          <p:cNvPr id="6" name="Text 4"/>
          <p:cNvSpPr/>
          <p:nvPr/>
        </p:nvSpPr>
        <p:spPr>
          <a:xfrm>
            <a:off x="914400" y="22128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17904" y="20299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feed goes down. The dashboard keeps showing the last price it had.</a:t>
            </a:r>
            <a:endParaRPr lang="en-US" sz="1550" dirty="0"/>
          </a:p>
        </p:txBody>
      </p:sp>
      <p:sp>
        <p:nvSpPr>
          <p:cNvPr id="8" name="Text 6"/>
          <p:cNvSpPr/>
          <p:nvPr/>
        </p:nvSpPr>
        <p:spPr>
          <a:xfrm>
            <a:off x="1517904" y="24323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Nothing on screen distinguishes a live quote from a three-day-old one. Decisions get made on both.</a:t>
            </a:r>
            <a:endParaRPr lang="en-US" sz="1250" dirty="0"/>
          </a:p>
        </p:txBody>
      </p:sp>
      <p:sp>
        <p:nvSpPr>
          <p:cNvPr id="9" name="Shape 7"/>
          <p:cNvSpPr/>
          <p:nvPr/>
        </p:nvSpPr>
        <p:spPr>
          <a:xfrm>
            <a:off x="640080" y="32004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914400" y="3584448"/>
            <a:ext cx="420624" cy="420624"/>
          </a:xfrm>
          <a:prstGeom prst="ellipse">
            <a:avLst/>
          </a:prstGeom>
          <a:solidFill>
            <a:srgbClr val="1E2761"/>
          </a:solidFill>
          <a:ln w="12700">
            <a:solidFill>
              <a:srgbClr val="1E2761"/>
            </a:solidFill>
            <a:prstDash val="solid"/>
          </a:ln>
        </p:spPr>
      </p:sp>
      <p:sp>
        <p:nvSpPr>
          <p:cNvPr id="11" name="Text 9"/>
          <p:cNvSpPr/>
          <p:nvPr/>
        </p:nvSpPr>
        <p:spPr>
          <a:xfrm>
            <a:off x="914400" y="3584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17904" y="34015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Data arrives from whichever source answered.</a:t>
            </a:r>
            <a:endParaRPr lang="en-US" sz="1550" dirty="0"/>
          </a:p>
        </p:txBody>
      </p:sp>
      <p:sp>
        <p:nvSpPr>
          <p:cNvPr id="13" name="Text 11"/>
          <p:cNvSpPr/>
          <p:nvPr/>
        </p:nvSpPr>
        <p:spPr>
          <a:xfrm>
            <a:off x="1517904" y="38039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Licensed broker data and free scraped data get mixed in one table, with no record of which produced which number.</a:t>
            </a:r>
            <a:endParaRPr lang="en-US" sz="1250" dirty="0"/>
          </a:p>
        </p:txBody>
      </p:sp>
      <p:sp>
        <p:nvSpPr>
          <p:cNvPr id="14" name="Shape 12"/>
          <p:cNvSpPr/>
          <p:nvPr/>
        </p:nvSpPr>
        <p:spPr>
          <a:xfrm>
            <a:off x="640080" y="45720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914400" y="4956048"/>
            <a:ext cx="420624" cy="420624"/>
          </a:xfrm>
          <a:prstGeom prst="ellipse">
            <a:avLst/>
          </a:prstGeom>
          <a:solidFill>
            <a:srgbClr val="C8871B"/>
          </a:solidFill>
          <a:ln w="12700">
            <a:solidFill>
              <a:srgbClr val="C8871B"/>
            </a:solidFill>
            <a:prstDash val="solid"/>
          </a:ln>
        </p:spPr>
      </p:sp>
      <p:sp>
        <p:nvSpPr>
          <p:cNvPr id="16" name="Text 14"/>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17904" y="47731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backtest is tuned until it looks good.</a:t>
            </a:r>
            <a:endParaRPr lang="en-US" sz="1550" dirty="0"/>
          </a:p>
        </p:txBody>
      </p:sp>
      <p:sp>
        <p:nvSpPr>
          <p:cNvPr id="18" name="Text 16"/>
          <p:cNvSpPr/>
          <p:nvPr/>
        </p:nvSpPr>
        <p:spPr>
          <a:xfrm>
            <a:off x="1517904" y="51755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The settings that produced the headline figure were chosen knowing how the decade turned out.</a:t>
            </a:r>
            <a:endParaRPr lang="en-US" sz="1250" dirty="0"/>
          </a:p>
        </p:txBody>
      </p:sp>
      <p:sp>
        <p:nvSpPr>
          <p:cNvPr id="19" name="Text 17"/>
          <p:cNvSpPr/>
          <p:nvPr/>
        </p:nvSpPr>
        <p:spPr>
          <a:xfrm>
            <a:off x="640080" y="5897880"/>
            <a:ext cx="10881360" cy="365760"/>
          </a:xfrm>
          <a:prstGeom prst="rect">
            <a:avLst/>
          </a:prstGeom>
          <a:noFill/>
          <a:ln/>
        </p:spPr>
        <p:txBody>
          <a:bodyPr wrap="square" lIns="0" tIns="0" rIns="0" bIns="0" rtlCol="0" anchor="ctr"/>
          <a:lstStyle/>
          <a:p>
            <a:pPr indent="0" marL="0">
              <a:buNone/>
            </a:pPr>
            <a:r>
              <a:rPr lang="en-US" sz="1400" b="1" i="1" dirty="0">
                <a:solidFill>
                  <a:srgbClr val="C8871B"/>
                </a:solidFill>
                <a:latin typeface="Calibri" pitchFamily="34" charset="0"/>
                <a:ea typeface="Calibri" pitchFamily="34" charset="-122"/>
                <a:cs typeface="Calibri" pitchFamily="34" charset="-120"/>
              </a:rPr>
              <a:t>Each failure looks exactly like a working system. That is what makes them expensive.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WHAT WE BUILT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 research stack where every number carries its origin</a:t>
            </a:r>
            <a:endParaRPr lang="en-US" sz="3400" dirty="0"/>
          </a:p>
        </p:txBody>
      </p:sp>
      <p:sp>
        <p:nvSpPr>
          <p:cNvPr id="4" name="Shape 2"/>
          <p:cNvSpPr/>
          <p:nvPr/>
        </p:nvSpPr>
        <p:spPr>
          <a:xfrm>
            <a:off x="6400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03120"/>
            <a:ext cx="457200" cy="457200"/>
          </a:xfrm>
          <a:prstGeom prst="ellipse">
            <a:avLst/>
          </a:prstGeom>
          <a:solidFill>
            <a:srgbClr val="2C7A5A"/>
          </a:solidFill>
          <a:ln w="12700">
            <a:solidFill>
              <a:srgbClr val="2C7A5A"/>
            </a:solidFill>
            <a:prstDash val="solid"/>
          </a:ln>
        </p:spPr>
      </p:sp>
      <p:sp>
        <p:nvSpPr>
          <p:cNvPr id="6" name="Text 4"/>
          <p:cNvSpPr/>
          <p:nvPr/>
        </p:nvSpPr>
        <p:spPr>
          <a:xfrm>
            <a:off x="8961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Provenance</a:t>
            </a:r>
            <a:endParaRPr lang="en-US" sz="1800" dirty="0"/>
          </a:p>
        </p:txBody>
      </p:sp>
      <p:sp>
        <p:nvSpPr>
          <p:cNvPr id="8" name="Text 6"/>
          <p:cNvSpPr/>
          <p:nvPr/>
        </p:nvSpPr>
        <p:spPr>
          <a:xfrm>
            <a:off x="8961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Every price records which feed produced it and which trading session it belongs to. A book priced from a mixture cannot claim to be licensed.</a:t>
            </a:r>
            <a:endParaRPr lang="en-US" sz="1150" dirty="0"/>
          </a:p>
        </p:txBody>
      </p:sp>
      <p:sp>
        <p:nvSpPr>
          <p:cNvPr id="9" name="Shape 7"/>
          <p:cNvSpPr/>
          <p:nvPr/>
        </p:nvSpPr>
        <p:spPr>
          <a:xfrm>
            <a:off x="33832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03120"/>
            <a:ext cx="457200" cy="457200"/>
          </a:xfrm>
          <a:prstGeom prst="ellipse">
            <a:avLst/>
          </a:prstGeom>
          <a:solidFill>
            <a:srgbClr val="1E2761"/>
          </a:solidFill>
          <a:ln w="12700">
            <a:solidFill>
              <a:srgbClr val="1E2761"/>
            </a:solidFill>
            <a:prstDash val="solid"/>
          </a:ln>
        </p:spPr>
      </p:sp>
      <p:sp>
        <p:nvSpPr>
          <p:cNvPr id="11" name="Text 9"/>
          <p:cNvSpPr/>
          <p:nvPr/>
        </p:nvSpPr>
        <p:spPr>
          <a:xfrm>
            <a:off x="36393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Freshness</a:t>
            </a:r>
            <a:endParaRPr lang="en-US" sz="1800" dirty="0"/>
          </a:p>
        </p:txBody>
      </p:sp>
      <p:sp>
        <p:nvSpPr>
          <p:cNvPr id="13" name="Text 11"/>
          <p:cNvSpPr/>
          <p:nvPr/>
        </p:nvSpPr>
        <p:spPr>
          <a:xfrm>
            <a:off x="36393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Staleness is judged against each market's own trading calendar, not the clock. A Friday close read on Monday is correct, and the system says so.</a:t>
            </a:r>
            <a:endParaRPr lang="en-US" sz="1150" dirty="0"/>
          </a:p>
        </p:txBody>
      </p:sp>
      <p:sp>
        <p:nvSpPr>
          <p:cNvPr id="14" name="Shape 12"/>
          <p:cNvSpPr/>
          <p:nvPr/>
        </p:nvSpPr>
        <p:spPr>
          <a:xfrm>
            <a:off x="61264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03120"/>
            <a:ext cx="457200" cy="457200"/>
          </a:xfrm>
          <a:prstGeom prst="ellipse">
            <a:avLst/>
          </a:prstGeom>
          <a:solidFill>
            <a:srgbClr val="1E2761"/>
          </a:solidFill>
          <a:ln w="12700">
            <a:solidFill>
              <a:srgbClr val="1E2761"/>
            </a:solidFill>
            <a:prstDash val="solid"/>
          </a:ln>
        </p:spPr>
      </p:sp>
      <p:sp>
        <p:nvSpPr>
          <p:cNvPr id="16" name="Text 14"/>
          <p:cNvSpPr/>
          <p:nvPr/>
        </p:nvSpPr>
        <p:spPr>
          <a:xfrm>
            <a:off x="63825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Coverage</a:t>
            </a:r>
            <a:endParaRPr lang="en-US" sz="1800" dirty="0"/>
          </a:p>
        </p:txBody>
      </p:sp>
      <p:sp>
        <p:nvSpPr>
          <p:cNvPr id="18" name="Text 16"/>
          <p:cNvSpPr/>
          <p:nvPr/>
        </p:nvSpPr>
        <p:spPr>
          <a:xfrm>
            <a:off x="63825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system measures what the licensed feed can actually price, and names the subscription that would unlock the rest.</a:t>
            </a:r>
            <a:endParaRPr lang="en-US" sz="1150" dirty="0"/>
          </a:p>
        </p:txBody>
      </p:sp>
      <p:sp>
        <p:nvSpPr>
          <p:cNvPr id="19" name="Shape 17"/>
          <p:cNvSpPr/>
          <p:nvPr/>
        </p:nvSpPr>
        <p:spPr>
          <a:xfrm>
            <a:off x="88696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03120"/>
            <a:ext cx="457200" cy="457200"/>
          </a:xfrm>
          <a:prstGeom prst="ellipse">
            <a:avLst/>
          </a:prstGeom>
          <a:solidFill>
            <a:srgbClr val="C8871B"/>
          </a:solidFill>
          <a:ln w="12700">
            <a:solidFill>
              <a:srgbClr val="C8871B"/>
            </a:solidFill>
            <a:prstDash val="solid"/>
          </a:ln>
        </p:spPr>
      </p:sp>
      <p:sp>
        <p:nvSpPr>
          <p:cNvPr id="21" name="Text 19"/>
          <p:cNvSpPr/>
          <p:nvPr/>
        </p:nvSpPr>
        <p:spPr>
          <a:xfrm>
            <a:off x="91257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Refusal</a:t>
            </a:r>
            <a:endParaRPr lang="en-US" sz="1800" dirty="0"/>
          </a:p>
        </p:txBody>
      </p:sp>
      <p:sp>
        <p:nvSpPr>
          <p:cNvPr id="23" name="Text 21"/>
          <p:cNvSpPr/>
          <p:nvPr/>
        </p:nvSpPr>
        <p:spPr>
          <a:xfrm>
            <a:off x="91257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Where data is missing, the system reports a gap rather than substituting a plausible number.</a:t>
            </a:r>
            <a:endParaRPr lang="en-US" sz="1150" dirty="0"/>
          </a:p>
        </p:txBody>
      </p:sp>
      <p:sp>
        <p:nvSpPr>
          <p:cNvPr id="24" name="Text 22"/>
          <p:cNvSpPr/>
          <p:nvPr/>
        </p:nvSpPr>
        <p:spPr>
          <a:xfrm>
            <a:off x="640080" y="5303520"/>
            <a:ext cx="10881360" cy="54864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Six independent safety gates sit between a research idea and any order. None can be bypassed in code; one requires a human to type the ticker.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VERIFIED 17 AUGUST 2026</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Running live, on licensed broker data</a:t>
            </a:r>
            <a:endParaRPr lang="en-US" sz="3400" dirty="0"/>
          </a:p>
        </p:txBody>
      </p:sp>
      <p:sp>
        <p:nvSpPr>
          <p:cNvPr id="4" name="Shape 2"/>
          <p:cNvSpPr/>
          <p:nvPr/>
        </p:nvSpPr>
        <p:spPr>
          <a:xfrm>
            <a:off x="640080" y="1783080"/>
            <a:ext cx="10881360" cy="1691640"/>
          </a:xfrm>
          <a:prstGeom prst="roundRect">
            <a:avLst>
              <a:gd name="adj" fmla="val 324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90 / 98</a:t>
            </a:r>
            <a:endParaRPr lang="en-US" sz="4000" dirty="0"/>
          </a:p>
        </p:txBody>
      </p:sp>
      <p:sp>
        <p:nvSpPr>
          <p:cNvPr id="6" name="Text 4"/>
          <p:cNvSpPr/>
          <p:nvPr/>
        </p:nvSpPr>
        <p:spPr>
          <a:xfrm>
            <a:off x="100584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watchlist instruments priced by the licensed IBKR feed</a:t>
            </a:r>
            <a:endParaRPr lang="en-US" sz="1150" dirty="0"/>
          </a:p>
        </p:txBody>
      </p:sp>
      <p:sp>
        <p:nvSpPr>
          <p:cNvPr id="7" name="Text 5"/>
          <p:cNvSpPr/>
          <p:nvPr/>
        </p:nvSpPr>
        <p:spPr>
          <a:xfrm>
            <a:off x="365760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24</a:t>
            </a:r>
            <a:endParaRPr lang="en-US" sz="4000" dirty="0"/>
          </a:p>
        </p:txBody>
      </p:sp>
      <p:sp>
        <p:nvSpPr>
          <p:cNvPr id="8" name="Text 6"/>
          <p:cNvSpPr/>
          <p:nvPr/>
        </p:nvSpPr>
        <p:spPr>
          <a:xfrm>
            <a:off x="365760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live positions, every one provenance-stamped</a:t>
            </a:r>
            <a:endParaRPr lang="en-US" sz="1150" dirty="0"/>
          </a:p>
        </p:txBody>
      </p:sp>
      <p:sp>
        <p:nvSpPr>
          <p:cNvPr id="9" name="Text 7"/>
          <p:cNvSpPr/>
          <p:nvPr/>
        </p:nvSpPr>
        <p:spPr>
          <a:xfrm>
            <a:off x="630936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30936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of marks from the licensed feed, verified per position</a:t>
            </a:r>
            <a:endParaRPr lang="en-US" sz="1150" dirty="0"/>
          </a:p>
        </p:txBody>
      </p:sp>
      <p:sp>
        <p:nvSpPr>
          <p:cNvPr id="11" name="Text 9"/>
          <p:cNvSpPr/>
          <p:nvPr/>
        </p:nvSpPr>
        <p:spPr>
          <a:xfrm>
            <a:off x="896112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725</a:t>
            </a:r>
            <a:endParaRPr lang="en-US" sz="4000" dirty="0"/>
          </a:p>
        </p:txBody>
      </p:sp>
      <p:sp>
        <p:nvSpPr>
          <p:cNvPr id="12" name="Text 10"/>
          <p:cNvSpPr/>
          <p:nvPr/>
        </p:nvSpPr>
        <p:spPr>
          <a:xfrm>
            <a:off x="896112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automated tests passing</a:t>
            </a:r>
            <a:endParaRPr lang="en-US" sz="1150" dirty="0"/>
          </a:p>
        </p:txBody>
      </p:sp>
      <p:sp>
        <p:nvSpPr>
          <p:cNvPr id="13" name="Shape 11"/>
          <p:cNvSpPr/>
          <p:nvPr/>
        </p:nvSpPr>
        <p:spPr>
          <a:xfrm>
            <a:off x="64008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 y="3913632"/>
            <a:ext cx="47548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Found by building it properly</a:t>
            </a:r>
            <a:endParaRPr lang="en-US" sz="1700" dirty="0"/>
          </a:p>
        </p:txBody>
      </p:sp>
      <p:sp>
        <p:nvSpPr>
          <p:cNvPr id="15" name="Text 13"/>
          <p:cNvSpPr/>
          <p:nvPr/>
        </p:nvSpPr>
        <p:spPr>
          <a:xfrm>
            <a:off x="914400" y="4297680"/>
            <a:ext cx="484632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The broker's own symbols for London listings and currency futures were mismatched — 5 instruments were invisible</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One fixed client ID meant a second process silently fell back to unlicensed data</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A demo holding shipped in config was being rendered as a real position</a:t>
            </a:r>
            <a:endParaRPr lang="en-US" sz="1150" dirty="0"/>
          </a:p>
        </p:txBody>
      </p:sp>
      <p:sp>
        <p:nvSpPr>
          <p:cNvPr id="16" name="Shape 14"/>
          <p:cNvSpPr/>
          <p:nvPr/>
        </p:nvSpPr>
        <p:spPr>
          <a:xfrm>
            <a:off x="617220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6446520" y="3913632"/>
            <a:ext cx="4754880" cy="365760"/>
          </a:xfrm>
          <a:prstGeom prst="rect">
            <a:avLst/>
          </a:prstGeom>
          <a:noFill/>
          <a:ln/>
        </p:spPr>
        <p:txBody>
          <a:bodyPr wrap="square" lIns="0" tIns="0" rIns="0" bIns="0" rtlCol="0" anchor="ctr"/>
          <a:lstStyle/>
          <a:p>
            <a:pPr indent="0" marL="0">
              <a:buNone/>
            </a:pPr>
            <a:r>
              <a:rPr lang="en-US" sz="1700" b="1" dirty="0">
                <a:solidFill>
                  <a:srgbClr val="C8871B"/>
                </a:solidFill>
                <a:latin typeface="Cambria" pitchFamily="34" charset="0"/>
                <a:ea typeface="Cambria" pitchFamily="34" charset="-122"/>
                <a:cs typeface="Cambria" pitchFamily="34" charset="-120"/>
              </a:rPr>
              <a:t>What the live book is not</a:t>
            </a:r>
            <a:endParaRPr lang="en-US" sz="1700" dirty="0"/>
          </a:p>
        </p:txBody>
      </p:sp>
      <p:sp>
        <p:nvSpPr>
          <p:cNvPr id="18" name="Text 16"/>
          <p:cNvSpPr/>
          <p:nvPr/>
        </p:nvSpPr>
        <p:spPr>
          <a:xfrm>
            <a:off x="6446520" y="4315968"/>
            <a:ext cx="4846320" cy="13716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It is a simulated paper book that began on 15 August 2026. It is evidence that the system runs, prices honestly, and respects its risk limits. A few weeks of paper trading is not a track record, and no real-money order has been placed.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BACKTEST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was tested</a:t>
            </a:r>
            <a:endParaRPr lang="en-US" sz="3400" dirty="0"/>
          </a:p>
        </p:txBody>
      </p:sp>
      <p:sp>
        <p:nvSpPr>
          <p:cNvPr id="4" name="Shape 2"/>
          <p:cNvSpPr/>
          <p:nvPr/>
        </p:nvSpPr>
        <p:spPr>
          <a:xfrm>
            <a:off x="6400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528</a:t>
            </a:r>
            <a:endParaRPr lang="en-US" sz="3600" dirty="0"/>
          </a:p>
        </p:txBody>
      </p:sp>
      <p:sp>
        <p:nvSpPr>
          <p:cNvPr id="6" name="Text 4"/>
          <p:cNvSpPr/>
          <p:nvPr/>
        </p:nvSpPr>
        <p:spPr>
          <a:xfrm>
            <a:off x="9144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instruments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500 US equities · 8 FX · 20 futures</a:t>
            </a:r>
            <a:endParaRPr lang="en-US" sz="1150" dirty="0"/>
          </a:p>
        </p:txBody>
      </p:sp>
      <p:sp>
        <p:nvSpPr>
          <p:cNvPr id="7" name="Shape 5"/>
          <p:cNvSpPr/>
          <p:nvPr/>
        </p:nvSpPr>
        <p:spPr>
          <a:xfrm>
            <a:off x="33832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Text 6"/>
          <p:cNvSpPr/>
          <p:nvPr/>
        </p:nvSpPr>
        <p:spPr>
          <a:xfrm>
            <a:off x="36576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12</a:t>
            </a:r>
            <a:endParaRPr lang="en-US" sz="3600" dirty="0"/>
          </a:p>
        </p:txBody>
      </p:sp>
      <p:sp>
        <p:nvSpPr>
          <p:cNvPr id="9" name="Text 7"/>
          <p:cNvSpPr/>
          <p:nvPr/>
        </p:nvSpPr>
        <p:spPr>
          <a:xfrm>
            <a:off x="36576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strategies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each from a published paper</a:t>
            </a:r>
            <a:endParaRPr lang="en-US" sz="1150" dirty="0"/>
          </a:p>
        </p:txBody>
      </p:sp>
      <p:sp>
        <p:nvSpPr>
          <p:cNvPr id="10" name="Shape 8"/>
          <p:cNvSpPr/>
          <p:nvPr/>
        </p:nvSpPr>
        <p:spPr>
          <a:xfrm>
            <a:off x="61264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Text 9"/>
          <p:cNvSpPr/>
          <p:nvPr/>
        </p:nvSpPr>
        <p:spPr>
          <a:xfrm>
            <a:off x="64008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8.94</a:t>
            </a:r>
            <a:endParaRPr lang="en-US" sz="3600" dirty="0"/>
          </a:p>
        </p:txBody>
      </p:sp>
      <p:sp>
        <p:nvSpPr>
          <p:cNvPr id="12" name="Text 10"/>
          <p:cNvSpPr/>
          <p:nvPr/>
        </p:nvSpPr>
        <p:spPr>
          <a:xfrm>
            <a:off x="64008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years of daily bars</a:t>
            </a:r>
            <a:endParaRPr lang="en-US" sz="1150" dirty="0"/>
          </a:p>
        </p:txBody>
      </p:sp>
      <p:sp>
        <p:nvSpPr>
          <p:cNvPr id="13" name="Shape 11"/>
          <p:cNvSpPr/>
          <p:nvPr/>
        </p:nvSpPr>
        <p:spPr>
          <a:xfrm>
            <a:off x="88696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62,319</a:t>
            </a:r>
            <a:endParaRPr lang="en-US" sz="3600" dirty="0"/>
          </a:p>
        </p:txBody>
      </p:sp>
      <p:sp>
        <p:nvSpPr>
          <p:cNvPr id="15" name="Text 13"/>
          <p:cNvSpPr/>
          <p:nvPr/>
        </p:nvSpPr>
        <p:spPr>
          <a:xfrm>
            <a:off x="91440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signals generated</a:t>
            </a:r>
            <a:endParaRPr lang="en-US" sz="1150" dirty="0"/>
          </a:p>
        </p:txBody>
      </p:sp>
      <p:sp>
        <p:nvSpPr>
          <p:cNvPr id="16" name="Shape 14"/>
          <p:cNvSpPr/>
          <p:nvPr/>
        </p:nvSpPr>
        <p:spPr>
          <a:xfrm>
            <a:off x="640080" y="3657600"/>
            <a:ext cx="10881360" cy="2240280"/>
          </a:xfrm>
          <a:prstGeom prst="roundRect">
            <a:avLst>
              <a:gd name="adj" fmla="val 244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960120" y="3877056"/>
            <a:ext cx="98755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Modelled honestly, on purpose</a:t>
            </a:r>
            <a:endParaRPr lang="en-US" sz="1800" dirty="0"/>
          </a:p>
        </p:txBody>
      </p:sp>
      <p:sp>
        <p:nvSpPr>
          <p:cNvPr id="18" name="Text 16"/>
          <p:cNvSpPr/>
          <p:nvPr/>
        </p:nvSpPr>
        <p:spPr>
          <a:xfrm>
            <a:off x="960120" y="4297680"/>
            <a:ext cx="9875520" cy="14630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Commission and slippage charged on both sides of every trade</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Compounding equity, gross exposure cap, position and correlation limits — the same limits the live system enforces</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Where one bar covers both stop and target, the stop is always assumed — deliberately pessimistic</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Benchmarked against equal-weight buy-and-hold of the same 528 instruments, not a flattering index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Buy-and-hold returned more. We lost less.</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C8871B"/>
                </a:solidFill>
                <a:latin typeface="Calibri" pitchFamily="34" charset="0"/>
                <a:ea typeface="Calibri" pitchFamily="34" charset="-122"/>
                <a:cs typeface="Calibri" pitchFamily="34" charset="-120"/>
              </a:rPr>
              <a:t>Stated first because a reader who finds it themselves stops believing everything else.</a:t>
            </a:r>
            <a:endParaRPr lang="en-US" sz="1300" dirty="0"/>
          </a:p>
        </p:txBody>
      </p:sp>
      <p:graphicFrame>
        <p:nvGraphicFramePr>
          <p:cNvPr id="5" name="Chart 0" descr=""/>
          <p:cNvGraphicFramePr/>
          <p:nvPr/>
        </p:nvGraphicFramePr>
        <p:xfrm>
          <a:off x="64008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20240"/>
            <a:ext cx="3749040" cy="3840480"/>
          </a:xfrm>
          <a:prstGeom prst="roundRect">
            <a:avLst>
              <a:gd name="adj" fmla="val 146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4"/>
          <p:cNvSpPr/>
          <p:nvPr/>
        </p:nvSpPr>
        <p:spPr>
          <a:xfrm>
            <a:off x="8046720" y="2121408"/>
            <a:ext cx="32004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trade being offered</a:t>
            </a:r>
            <a:endParaRPr lang="en-US" sz="1700" dirty="0"/>
          </a:p>
        </p:txBody>
      </p:sp>
      <p:sp>
        <p:nvSpPr>
          <p:cNvPr id="8" name="Text 5"/>
          <p:cNvSpPr/>
          <p:nvPr/>
        </p:nvSpPr>
        <p:spPr>
          <a:xfrm>
            <a:off x="8046720" y="2606040"/>
            <a:ext cx="3200400" cy="914400"/>
          </a:xfrm>
          <a:prstGeom prst="rect">
            <a:avLst/>
          </a:prstGeom>
          <a:noFill/>
          <a:ln/>
        </p:spPr>
        <p:txBody>
          <a:bodyPr wrap="square" lIns="0" tIns="0" rIns="0" bIns="0" rtlCol="0" anchor="ctr"/>
          <a:lstStyle/>
          <a:p>
            <a:pPr indent="0" marL="0">
              <a:buNone/>
            </a:pPr>
            <a:r>
              <a:rPr lang="en-US" sz="3000" b="1" dirty="0">
                <a:solidFill>
                  <a:srgbClr val="A33B32"/>
                </a:solidFill>
                <a:latin typeface="Cambria" pitchFamily="34" charset="0"/>
                <a:ea typeface="Cambria" pitchFamily="34" charset="-122"/>
                <a:cs typeface="Cambria" pitchFamily="34" charset="-120"/>
              </a:rPr>
              <a:t>−3.5</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 annual return given up</a:t>
            </a:r>
            <a:endParaRPr lang="en-US" sz="3000" dirty="0"/>
          </a:p>
        </p:txBody>
      </p:sp>
      <p:sp>
        <p:nvSpPr>
          <p:cNvPr id="9" name="Text 6"/>
          <p:cNvSpPr/>
          <p:nvPr/>
        </p:nvSpPr>
        <p:spPr>
          <a:xfrm>
            <a:off x="8046720" y="3611880"/>
            <a:ext cx="3200400" cy="914400"/>
          </a:xfrm>
          <a:prstGeom prst="rect">
            <a:avLst/>
          </a:prstGeom>
          <a:noFill/>
          <a:ln/>
        </p:spPr>
        <p:txBody>
          <a:bodyPr wrap="square" lIns="0" tIns="0" rIns="0" bIns="0" rtlCol="0" anchor="ctr"/>
          <a:lstStyle/>
          <a:p>
            <a:pPr indent="0" marL="0">
              <a:buNone/>
            </a:pPr>
            <a:r>
              <a:rPr lang="en-US" sz="3000" b="1" dirty="0">
                <a:solidFill>
                  <a:srgbClr val="2C7A5A"/>
                </a:solidFill>
                <a:latin typeface="Cambria" pitchFamily="34" charset="0"/>
                <a:ea typeface="Cambria" pitchFamily="34" charset="-122"/>
                <a:cs typeface="Cambria" pitchFamily="34" charset="-120"/>
              </a:rPr>
              <a:t>−15.1</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off the worst peak-to-trough fall</a:t>
            </a:r>
            <a:endParaRPr lang="en-US" sz="3000" dirty="0"/>
          </a:p>
        </p:txBody>
      </p:sp>
      <p:sp>
        <p:nvSpPr>
          <p:cNvPr id="10" name="Text 7"/>
          <p:cNvSpPr/>
          <p:nvPr/>
        </p:nvSpPr>
        <p:spPr>
          <a:xfrm>
            <a:off x="8046720" y="4709160"/>
            <a:ext cx="3200400" cy="9144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Whether that is a good trade is a preference, not a fact — and it decides which line of the table matters to you.</a:t>
            </a:r>
            <a:endParaRPr lang="en-US" sz="115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Source: reports/share/results-1m.csv · £1,000,000 portfolio · 8.94 years · net of modelled commission and slippage.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 risk-adjusted measures, the strategies win</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949440" cy="914400"/>
        </p:xfrm>
        <a:graphic>
          <a:graphicData uri="http://schemas.openxmlformats.org/drawingml/2006/table">
            <a:tbl>
              <a:tblPr/>
              <a:tblGrid>
                <a:gridCol w="2011680"/>
                <a:gridCol w="1645920"/>
                <a:gridCol w="1737360"/>
                <a:gridCol w="1554480"/>
              </a:tblGrid>
              <a:tr h="384048">
                <a:tc>
                  <a:txBody>
                    <a:bodyPr/>
                    <a:lstStyle/>
                    <a:p>
                      <a:pPr algn="l" indent="0" marL="0">
                        <a:buNone/>
                      </a:pP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 Reversion</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4-strategy blend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Buy &amp; hold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Annual return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20.18%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19.20%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23.68%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Max drawdown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22.62%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23.67%</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37.76%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Sharpe</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Sortino</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1.64</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Calmar</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0.89</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Trades</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386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bl>
          </a:graphicData>
        </a:graphic>
      </p:graphicFrame>
      <p:sp>
        <p:nvSpPr>
          <p:cNvPr id="5" name="Shape 2"/>
          <p:cNvSpPr/>
          <p:nvPr/>
        </p:nvSpPr>
        <p:spPr>
          <a:xfrm>
            <a:off x="7818120" y="1828800"/>
            <a:ext cx="3703320" cy="2788920"/>
          </a:xfrm>
          <a:prstGeom prst="roundRect">
            <a:avLst>
              <a:gd name="adj" fmla="val 1967"/>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Text 3"/>
          <p:cNvSpPr/>
          <p:nvPr/>
        </p:nvSpPr>
        <p:spPr>
          <a:xfrm>
            <a:off x="8092440" y="2029968"/>
            <a:ext cx="3154680" cy="365760"/>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The objection we agree with</a:t>
            </a:r>
            <a:endParaRPr lang="en-US" sz="1600" dirty="0"/>
          </a:p>
        </p:txBody>
      </p:sp>
      <p:sp>
        <p:nvSpPr>
          <p:cNvPr id="7" name="Text 4"/>
          <p:cNvSpPr/>
          <p:nvPr/>
        </p:nvSpPr>
        <p:spPr>
          <a:xfrm>
            <a:off x="8092440" y="2450592"/>
            <a:ext cx="3154680" cy="201168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Mean Reversion buys three-year laggards, over a decade in which beaten-down names came roaring back — precisely the trade it is built to make. 386 trades in one favourable regime is a hypothesis with supporting evidence, not an established edge.</a:t>
            </a:r>
            <a:endParaRPr lang="en-US" sz="1150" dirty="0"/>
          </a:p>
        </p:txBody>
      </p:sp>
      <p:sp>
        <p:nvSpPr>
          <p:cNvPr id="8" name="Shape 5"/>
          <p:cNvSpPr/>
          <p:nvPr/>
        </p:nvSpPr>
        <p:spPr>
          <a:xfrm>
            <a:off x="7818120" y="4800600"/>
            <a:ext cx="3703320" cy="1234440"/>
          </a:xfrm>
          <a:prstGeom prst="roundRect">
            <a:avLst>
              <a:gd name="adj" fmla="val 4444"/>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6"/>
          <p:cNvSpPr/>
          <p:nvPr/>
        </p:nvSpPr>
        <p:spPr>
          <a:xfrm>
            <a:off x="8092440" y="4956048"/>
            <a:ext cx="315468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Fewer strategies beat more</a:t>
            </a:r>
            <a:endParaRPr lang="en-US" sz="1500" dirty="0"/>
          </a:p>
        </p:txBody>
      </p:sp>
      <p:sp>
        <p:nvSpPr>
          <p:cNvPr id="10" name="Text 7"/>
          <p:cNvSpPr/>
          <p:nvPr/>
        </p:nvSpPr>
        <p:spPr>
          <a:xfrm>
            <a:off x="8092440" y="5285232"/>
            <a:ext cx="3154680" cy="68580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twelve run together drew down 40.31%. Four decorrelated ones: 23.67%, for the same return.</a:t>
            </a:r>
            <a:endParaRPr lang="en-US" sz="110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Sharpe, Sortino and Calmar are risk-adjusted return measures — higher is better. Source: reports/share/results-1m.csv.</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this evidence cannot yet support</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5A6B8C"/>
                </a:solidFill>
                <a:latin typeface="Calibri" pitchFamily="34" charset="0"/>
                <a:ea typeface="Calibri" pitchFamily="34" charset="-122"/>
                <a:cs typeface="Calibri" pitchFamily="34" charset="-120"/>
              </a:rPr>
              <a:t>Every one of these is in our own published research. None was found by a reviewer.</a:t>
            </a:r>
            <a:endParaRPr lang="en-US" sz="1300" dirty="0"/>
          </a:p>
        </p:txBody>
      </p:sp>
      <p:sp>
        <p:nvSpPr>
          <p:cNvPr id="5" name="Shape 3"/>
          <p:cNvSpPr/>
          <p:nvPr/>
        </p:nvSpPr>
        <p:spPr>
          <a:xfrm>
            <a:off x="640080" y="1938528"/>
            <a:ext cx="10881360" cy="1097280"/>
          </a:xfrm>
          <a:prstGeom prst="roundRect">
            <a:avLst>
              <a:gd name="adj" fmla="val 5000"/>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Shape 4"/>
          <p:cNvSpPr/>
          <p:nvPr/>
        </p:nvSpPr>
        <p:spPr>
          <a:xfrm>
            <a:off x="914400" y="2267712"/>
            <a:ext cx="420624" cy="420624"/>
          </a:xfrm>
          <a:prstGeom prst="ellipse">
            <a:avLst/>
          </a:prstGeom>
          <a:solidFill>
            <a:srgbClr val="C8871B"/>
          </a:solidFill>
          <a:ln w="12700">
            <a:solidFill>
              <a:srgbClr val="C8871B"/>
            </a:solidFill>
            <a:prstDash val="solid"/>
          </a:ln>
        </p:spPr>
      </p:sp>
      <p:sp>
        <p:nvSpPr>
          <p:cNvPr id="7" name="Text 5"/>
          <p:cNvSpPr/>
          <p:nvPr/>
        </p:nvSpPr>
        <p:spPr>
          <a:xfrm>
            <a:off x="914400" y="226771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17904" y="2084832"/>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The out-of-sample test did not work</a:t>
            </a:r>
            <a:endParaRPr lang="en-US" sz="1400" dirty="0"/>
          </a:p>
        </p:txBody>
      </p:sp>
      <p:sp>
        <p:nvSpPr>
          <p:cNvPr id="9" name="Text 7"/>
          <p:cNvSpPr/>
          <p:nvPr/>
        </p:nvSpPr>
        <p:spPr>
          <a:xfrm>
            <a:off x="1517904" y="2395728"/>
            <a:ext cx="9692640" cy="585216"/>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Every strategy scored better out-of-sample than in-sample — backwards. The split lands near the 2022 bottom, so it is a regime split wearing an out-of-sample label. No strategy has yet met a period where its style was out of favour. This is the single biggest weakness.</a:t>
            </a:r>
            <a:endParaRPr lang="en-US" sz="1100" dirty="0"/>
          </a:p>
        </p:txBody>
      </p:sp>
      <p:sp>
        <p:nvSpPr>
          <p:cNvPr id="10" name="Shape 8"/>
          <p:cNvSpPr/>
          <p:nvPr/>
        </p:nvSpPr>
        <p:spPr>
          <a:xfrm>
            <a:off x="640080" y="3163824"/>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Shape 9"/>
          <p:cNvSpPr/>
          <p:nvPr/>
        </p:nvSpPr>
        <p:spPr>
          <a:xfrm>
            <a:off x="914400" y="3328416"/>
            <a:ext cx="420624" cy="420624"/>
          </a:xfrm>
          <a:prstGeom prst="ellipse">
            <a:avLst/>
          </a:prstGeom>
          <a:solidFill>
            <a:srgbClr val="1E2761"/>
          </a:solidFill>
          <a:ln w="12700">
            <a:solidFill>
              <a:srgbClr val="1E2761"/>
            </a:solidFill>
            <a:prstDash val="solid"/>
          </a:ln>
        </p:spPr>
      </p:sp>
      <p:sp>
        <p:nvSpPr>
          <p:cNvPr id="12" name="Text 10"/>
          <p:cNvSpPr/>
          <p:nvPr/>
        </p:nvSpPr>
        <p:spPr>
          <a:xfrm>
            <a:off x="914400" y="332841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17904" y="3255264"/>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Survivorship bias</a:t>
            </a:r>
            <a:endParaRPr lang="en-US" sz="1400" dirty="0"/>
          </a:p>
        </p:txBody>
      </p:sp>
      <p:sp>
        <p:nvSpPr>
          <p:cNvPr id="14" name="Text 12"/>
          <p:cNvSpPr/>
          <p:nvPr/>
        </p:nvSpPr>
        <p:spPr>
          <a:xfrm>
            <a:off x="1517904" y="3511296"/>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Only instruments that still exist can be tested. This flatters every row — including buy-and-hold.</a:t>
            </a:r>
            <a:endParaRPr lang="en-US" sz="1100" dirty="0"/>
          </a:p>
        </p:txBody>
      </p:sp>
      <p:sp>
        <p:nvSpPr>
          <p:cNvPr id="15" name="Shape 13"/>
          <p:cNvSpPr/>
          <p:nvPr/>
        </p:nvSpPr>
        <p:spPr>
          <a:xfrm>
            <a:off x="640080" y="4041648"/>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6" name="Shape 14"/>
          <p:cNvSpPr/>
          <p:nvPr/>
        </p:nvSpPr>
        <p:spPr>
          <a:xfrm>
            <a:off x="914400" y="4206240"/>
            <a:ext cx="420624" cy="420624"/>
          </a:xfrm>
          <a:prstGeom prst="ellipse">
            <a:avLst/>
          </a:prstGeom>
          <a:solidFill>
            <a:srgbClr val="1E2761"/>
          </a:solidFill>
          <a:ln w="12700">
            <a:solidFill>
              <a:srgbClr val="1E2761"/>
            </a:solidFill>
            <a:prstDash val="solid"/>
          </a:ln>
        </p:spPr>
      </p:sp>
      <p:sp>
        <p:nvSpPr>
          <p:cNvPr id="17" name="Text 15"/>
          <p:cNvSpPr/>
          <p:nvPr/>
        </p:nvSpPr>
        <p:spPr>
          <a:xfrm>
            <a:off x="914400" y="4206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17904" y="4133088"/>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Futures are mis-sized</a:t>
            </a:r>
            <a:endParaRPr lang="en-US" sz="1400" dirty="0"/>
          </a:p>
        </p:txBody>
      </p:sp>
      <p:sp>
        <p:nvSpPr>
          <p:cNvPr id="19" name="Text 17"/>
          <p:cNvSpPr/>
          <p:nvPr/>
        </p:nvSpPr>
        <p:spPr>
          <a:xfrm>
            <a:off x="1517904" y="4389120"/>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20 are modelled at full notional, with no margin or contract multiplier. Return and risk are both understated.</a:t>
            </a:r>
            <a:endParaRPr lang="en-US" sz="1100" dirty="0"/>
          </a:p>
        </p:txBody>
      </p:sp>
      <p:sp>
        <p:nvSpPr>
          <p:cNvPr id="20" name="Shape 18"/>
          <p:cNvSpPr/>
          <p:nvPr/>
        </p:nvSpPr>
        <p:spPr>
          <a:xfrm>
            <a:off x="640080" y="4919472"/>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1" name="Shape 19"/>
          <p:cNvSpPr/>
          <p:nvPr/>
        </p:nvSpPr>
        <p:spPr>
          <a:xfrm>
            <a:off x="914400" y="5084064"/>
            <a:ext cx="420624" cy="420624"/>
          </a:xfrm>
          <a:prstGeom prst="ellipse">
            <a:avLst/>
          </a:prstGeom>
          <a:solidFill>
            <a:srgbClr val="1E2761"/>
          </a:solidFill>
          <a:ln w="12700">
            <a:solidFill>
              <a:srgbClr val="1E2761"/>
            </a:solidFill>
            <a:prstDash val="solid"/>
          </a:ln>
        </p:spPr>
      </p:sp>
      <p:sp>
        <p:nvSpPr>
          <p:cNvPr id="22" name="Text 20"/>
          <p:cNvSpPr/>
          <p:nvPr/>
        </p:nvSpPr>
        <p:spPr>
          <a:xfrm>
            <a:off x="914400" y="508406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1517904" y="5010912"/>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One market, one decade</a:t>
            </a:r>
            <a:endParaRPr lang="en-US" sz="1400" dirty="0"/>
          </a:p>
        </p:txBody>
      </p:sp>
      <p:sp>
        <p:nvSpPr>
          <p:cNvPr id="24" name="Text 22"/>
          <p:cNvSpPr/>
          <p:nvPr/>
        </p:nvSpPr>
        <p:spPr>
          <a:xfrm>
            <a:off x="1517904" y="5266944"/>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US-listed instruments across roughly 2016–2026 — one of the strongest bull runs on record.</a:t>
            </a:r>
            <a:endParaRPr lang="en-US" sz="1100" dirty="0"/>
          </a:p>
        </p:txBody>
      </p:sp>
      <p:sp>
        <p:nvSpPr>
          <p:cNvPr id="25" name="Shape 23"/>
          <p:cNvSpPr/>
          <p:nvPr/>
        </p:nvSpPr>
        <p:spPr>
          <a:xfrm>
            <a:off x="640080" y="5797296"/>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6" name="Shape 24"/>
          <p:cNvSpPr/>
          <p:nvPr/>
        </p:nvSpPr>
        <p:spPr>
          <a:xfrm>
            <a:off x="914400" y="5961888"/>
            <a:ext cx="420624" cy="420624"/>
          </a:xfrm>
          <a:prstGeom prst="ellipse">
            <a:avLst/>
          </a:prstGeom>
          <a:solidFill>
            <a:srgbClr val="C8871B"/>
          </a:solidFill>
          <a:ln w="12700">
            <a:solidFill>
              <a:srgbClr val="C8871B"/>
            </a:solidFill>
            <a:prstDash val="solid"/>
          </a:ln>
        </p:spPr>
      </p:sp>
      <p:sp>
        <p:nvSpPr>
          <p:cNvPr id="27" name="Text 25"/>
          <p:cNvSpPr/>
          <p:nvPr/>
        </p:nvSpPr>
        <p:spPr>
          <a:xfrm>
            <a:off x="914400" y="5961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1517904" y="5888736"/>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No real-money track record</a:t>
            </a:r>
            <a:endParaRPr lang="en-US" sz="1400" dirty="0"/>
          </a:p>
        </p:txBody>
      </p:sp>
      <p:sp>
        <p:nvSpPr>
          <p:cNvPr id="29" name="Text 27"/>
          <p:cNvSpPr/>
          <p:nvPr/>
        </p:nvSpPr>
        <p:spPr>
          <a:xfrm>
            <a:off x="1517904" y="6144768"/>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The book is simulated paper trading on a broker paper account. No real-money order has been placed, so forward performance is unproven.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WHY THIS MATTERS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asset is the measurement discipline</a:t>
            </a:r>
            <a:endParaRPr lang="en-US" sz="3400" dirty="0"/>
          </a:p>
        </p:txBody>
      </p:sp>
      <p:sp>
        <p:nvSpPr>
          <p:cNvPr id="4" name="Shape 2"/>
          <p:cNvSpPr/>
          <p:nvPr/>
        </p:nvSpPr>
        <p:spPr>
          <a:xfrm>
            <a:off x="640080" y="1828800"/>
            <a:ext cx="5349240" cy="3931920"/>
          </a:xfrm>
          <a:prstGeom prst="roundRect">
            <a:avLst>
              <a:gd name="adj" fmla="val 139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57400"/>
            <a:ext cx="4754880" cy="384048"/>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Hypotheses this project killed</a:t>
            </a:r>
            <a:endParaRPr lang="en-US" sz="1900" dirty="0"/>
          </a:p>
        </p:txBody>
      </p:sp>
      <p:sp>
        <p:nvSpPr>
          <p:cNvPr id="6" name="Text 4"/>
          <p:cNvSpPr/>
          <p:nvPr/>
        </p:nvSpPr>
        <p:spPr>
          <a:xfrm>
            <a:off x="914400" y="2432304"/>
            <a:ext cx="4754880" cy="274320"/>
          </a:xfrm>
          <a:prstGeom prst="rect">
            <a:avLst/>
          </a:prstGeom>
          <a:noFill/>
          <a:ln/>
        </p:spPr>
        <p:txBody>
          <a:bodyPr wrap="square" lIns="0" tIns="0" rIns="0" bIns="0" rtlCol="0" anchor="ctr"/>
          <a:lstStyle/>
          <a:p>
            <a:pPr indent="0" marL="0">
              <a:buNone/>
            </a:pPr>
            <a:r>
              <a:rPr lang="en-US" sz="1150" i="1" dirty="0">
                <a:solidFill>
                  <a:srgbClr val="5A6B8C"/>
                </a:solidFill>
                <a:latin typeface="Calibri" pitchFamily="34" charset="0"/>
                <a:ea typeface="Calibri" pitchFamily="34" charset="-122"/>
                <a:cs typeface="Calibri" pitchFamily="34" charset="-120"/>
              </a:rPr>
              <a:t>— its own, with its own evidence</a:t>
            </a:r>
            <a:endParaRPr lang="en-US" sz="1150" dirty="0"/>
          </a:p>
        </p:txBody>
      </p:sp>
      <p:sp>
        <p:nvSpPr>
          <p:cNvPr id="7" name="Text 5"/>
          <p:cNvSpPr/>
          <p:nvPr/>
        </p:nvSpPr>
        <p:spPr>
          <a:xfrm>
            <a:off x="91440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"Costs destroy the edge" — was UK stamp duty, not the rules</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"Low volatility is the alpha" — inside its own margin of error</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"Winners are being capped" — the trailing exit made it far worse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"We win on risk-adjusted return" — as first stated, false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"More strategies diversify" — all twelve drew down deepest</a:t>
            </a:r>
            <a:endParaRPr lang="en-US" sz="1250" dirty="0"/>
          </a:p>
        </p:txBody>
      </p:sp>
      <p:sp>
        <p:nvSpPr>
          <p:cNvPr id="8" name="Shape 6"/>
          <p:cNvSpPr/>
          <p:nvPr/>
        </p:nvSpPr>
        <p:spPr>
          <a:xfrm>
            <a:off x="6172200" y="1828800"/>
            <a:ext cx="5349240" cy="3931920"/>
          </a:xfrm>
          <a:prstGeom prst="roundRect">
            <a:avLst>
              <a:gd name="adj" fmla="val 1395"/>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7"/>
          <p:cNvSpPr/>
          <p:nvPr/>
        </p:nvSpPr>
        <p:spPr>
          <a:xfrm>
            <a:off x="6446520" y="2057400"/>
            <a:ext cx="475488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Eight material bugs found and fixed</a:t>
            </a:r>
            <a:endParaRPr lang="en-US" sz="1900" dirty="0"/>
          </a:p>
        </p:txBody>
      </p:sp>
      <p:sp>
        <p:nvSpPr>
          <p:cNvPr id="10" name="Text 8"/>
          <p:cNvSpPr/>
          <p:nvPr/>
        </p:nvSpPr>
        <p:spPr>
          <a:xfrm>
            <a:off x="6446520" y="2432304"/>
            <a:ext cx="4754880" cy="274320"/>
          </a:xfrm>
          <a:prstGeom prst="rect">
            <a:avLst/>
          </a:prstGeom>
          <a:noFill/>
          <a:ln/>
        </p:spPr>
        <p:txBody>
          <a:bodyPr wrap="square" lIns="0" tIns="0" rIns="0" bIns="0"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 two by the founder, reviewing the machine's work</a:t>
            </a:r>
            <a:endParaRPr lang="en-US" sz="1150" dirty="0"/>
          </a:p>
        </p:txBody>
      </p:sp>
      <p:sp>
        <p:nvSpPr>
          <p:cNvPr id="11" name="Text 9"/>
          <p:cNvSpPr/>
          <p:nvPr/>
        </p:nvSpPr>
        <p:spPr>
          <a:xfrm>
            <a:off x="644652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~2× accidental leverage inflating every headline return</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Drawdown divided by the final peak, understating every fall</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Six of twelve strategies structurally unable to pick FX or futures</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Rate-limited data cached as though it were a finding</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The same bet bought twice — spot FX and its own future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the next phase has to prove</a:t>
            </a:r>
            <a:endParaRPr lang="en-US" sz="3400" dirty="0"/>
          </a:p>
        </p:txBody>
      </p:sp>
      <p:sp>
        <p:nvSpPr>
          <p:cNvPr id="4" name="Shape 2"/>
          <p:cNvSpPr/>
          <p:nvPr/>
        </p:nvSpPr>
        <p:spPr>
          <a:xfrm>
            <a:off x="640080" y="1874520"/>
            <a:ext cx="2624328" cy="3246120"/>
          </a:xfrm>
          <a:prstGeom prst="roundRect">
            <a:avLst>
              <a:gd name="adj" fmla="val 2091"/>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21408"/>
            <a:ext cx="420624" cy="420624"/>
          </a:xfrm>
          <a:prstGeom prst="ellipse">
            <a:avLst/>
          </a:prstGeom>
          <a:solidFill>
            <a:srgbClr val="C8871B"/>
          </a:solidFill>
          <a:ln w="12700">
            <a:solidFill>
              <a:srgbClr val="C8871B"/>
            </a:solidFill>
            <a:prstDash val="solid"/>
          </a:ln>
        </p:spPr>
      </p:sp>
      <p:sp>
        <p:nvSpPr>
          <p:cNvPr id="6" name="Text 4"/>
          <p:cNvSpPr/>
          <p:nvPr/>
        </p:nvSpPr>
        <p:spPr>
          <a:xfrm>
            <a:off x="8961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48840" cy="658368"/>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A real out-of-sample test</a:t>
            </a:r>
            <a:endParaRPr lang="en-US" sz="1600" dirty="0"/>
          </a:p>
        </p:txBody>
      </p:sp>
      <p:sp>
        <p:nvSpPr>
          <p:cNvPr id="8" name="Text 6"/>
          <p:cNvSpPr/>
          <p:nvPr/>
        </p:nvSpPr>
        <p:spPr>
          <a:xfrm>
            <a:off x="8961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across regimes, including periods where each style was out of favour. Until this exists, no return figure here should be relied on.</a:t>
            </a:r>
            <a:endParaRPr lang="en-US" sz="1150" dirty="0"/>
          </a:p>
        </p:txBody>
      </p:sp>
      <p:sp>
        <p:nvSpPr>
          <p:cNvPr id="9" name="Shape 7"/>
          <p:cNvSpPr/>
          <p:nvPr/>
        </p:nvSpPr>
        <p:spPr>
          <a:xfrm>
            <a:off x="33832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21408"/>
            <a:ext cx="420624" cy="420624"/>
          </a:xfrm>
          <a:prstGeom prst="ellipse">
            <a:avLst/>
          </a:prstGeom>
          <a:solidFill>
            <a:srgbClr val="1E2761"/>
          </a:solidFill>
          <a:ln w="12700">
            <a:solidFill>
              <a:srgbClr val="1E2761"/>
            </a:solidFill>
            <a:prstDash val="solid"/>
          </a:ln>
        </p:spPr>
      </p:sp>
      <p:sp>
        <p:nvSpPr>
          <p:cNvPr id="11" name="Text 9"/>
          <p:cNvSpPr/>
          <p:nvPr/>
        </p:nvSpPr>
        <p:spPr>
          <a:xfrm>
            <a:off x="36393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Honest futures sizing</a:t>
            </a:r>
            <a:endParaRPr lang="en-US" sz="1600" dirty="0"/>
          </a:p>
        </p:txBody>
      </p:sp>
      <p:sp>
        <p:nvSpPr>
          <p:cNvPr id="13" name="Text 11"/>
          <p:cNvSpPr/>
          <p:nvPr/>
        </p:nvSpPr>
        <p:spPr>
          <a:xfrm>
            <a:off x="36393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Margin and contract multipliers, so multi-asset results mean something.</a:t>
            </a:r>
            <a:endParaRPr lang="en-US" sz="1150" dirty="0"/>
          </a:p>
        </p:txBody>
      </p:sp>
      <p:sp>
        <p:nvSpPr>
          <p:cNvPr id="14" name="Shape 12"/>
          <p:cNvSpPr/>
          <p:nvPr/>
        </p:nvSpPr>
        <p:spPr>
          <a:xfrm>
            <a:off x="61264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21408"/>
            <a:ext cx="420624" cy="420624"/>
          </a:xfrm>
          <a:prstGeom prst="ellipse">
            <a:avLst/>
          </a:prstGeom>
          <a:solidFill>
            <a:srgbClr val="1E2761"/>
          </a:solidFill>
          <a:ln w="12700">
            <a:solidFill>
              <a:srgbClr val="1E2761"/>
            </a:solidFill>
            <a:prstDash val="solid"/>
          </a:ln>
        </p:spPr>
      </p:sp>
      <p:sp>
        <p:nvSpPr>
          <p:cNvPr id="16" name="Text 14"/>
          <p:cNvSpPr/>
          <p:nvPr/>
        </p:nvSpPr>
        <p:spPr>
          <a:xfrm>
            <a:off x="63825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Forward track record</a:t>
            </a:r>
            <a:endParaRPr lang="en-US" sz="1600" dirty="0"/>
          </a:p>
        </p:txBody>
      </p:sp>
      <p:sp>
        <p:nvSpPr>
          <p:cNvPr id="18" name="Text 16"/>
          <p:cNvSpPr/>
          <p:nvPr/>
        </p:nvSpPr>
        <p:spPr>
          <a:xfrm>
            <a:off x="63825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on licensed data, published with closed trades and full provenance.</a:t>
            </a:r>
            <a:endParaRPr lang="en-US" sz="1150" dirty="0"/>
          </a:p>
        </p:txBody>
      </p:sp>
      <p:sp>
        <p:nvSpPr>
          <p:cNvPr id="19" name="Shape 17"/>
          <p:cNvSpPr/>
          <p:nvPr/>
        </p:nvSpPr>
        <p:spPr>
          <a:xfrm>
            <a:off x="88696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21408"/>
            <a:ext cx="420624" cy="420624"/>
          </a:xfrm>
          <a:prstGeom prst="ellipse">
            <a:avLst/>
          </a:prstGeom>
          <a:solidFill>
            <a:srgbClr val="1E2761"/>
          </a:solidFill>
          <a:ln w="12700">
            <a:solidFill>
              <a:srgbClr val="1E2761"/>
            </a:solidFill>
            <a:prstDash val="solid"/>
          </a:ln>
        </p:spPr>
      </p:sp>
      <p:sp>
        <p:nvSpPr>
          <p:cNvPr id="21" name="Text 19"/>
          <p:cNvSpPr/>
          <p:nvPr/>
        </p:nvSpPr>
        <p:spPr>
          <a:xfrm>
            <a:off x="91257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Options data</a:t>
            </a:r>
            <a:endParaRPr lang="en-US" sz="1600" dirty="0"/>
          </a:p>
        </p:txBody>
      </p:sp>
      <p:sp>
        <p:nvSpPr>
          <p:cNvPr id="23" name="Text 21"/>
          <p:cNvSpPr/>
          <p:nvPr/>
        </p:nvSpPr>
        <p:spPr>
          <a:xfrm>
            <a:off x="91257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only route to a defined-risk hedge. Nothing in the book is negatively correlated with anything else.</a:t>
            </a:r>
            <a:endParaRPr lang="en-US" sz="1150" dirty="0"/>
          </a:p>
        </p:txBody>
      </p:sp>
      <p:sp>
        <p:nvSpPr>
          <p:cNvPr id="24" name="Text 22"/>
          <p:cNvSpPr/>
          <p:nvPr/>
        </p:nvSpPr>
        <p:spPr>
          <a:xfrm>
            <a:off x="640080" y="5394960"/>
            <a:ext cx="10881360" cy="365760"/>
          </a:xfrm>
          <a:prstGeom prst="rect">
            <a:avLst/>
          </a:prstGeom>
          <a:noFill/>
          <a:ln/>
        </p:spPr>
        <p:txBody>
          <a:bodyPr wrap="square" lIns="0" tIns="0" rIns="0" bIns="0" rtlCol="0" anchor="ctr"/>
          <a:lstStyle/>
          <a:p>
            <a:pPr indent="0" marL="0">
              <a:buNone/>
            </a:pPr>
            <a:r>
              <a:rPr lang="en-US" sz="1350" b="1" i="1" dirty="0">
                <a:solidFill>
                  <a:srgbClr val="1E2761"/>
                </a:solidFill>
                <a:latin typeface="Calibri" pitchFamily="34" charset="0"/>
                <a:ea typeface="Calibri" pitchFamily="34" charset="-122"/>
                <a:cs typeface="Calibri" pitchFamily="34" charset="-120"/>
              </a:rPr>
              <a:t>Priority one is the item that could invalidate the rest. That ordering is deliberate.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FUNDING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ask</a:t>
            </a:r>
            <a:endParaRPr lang="en-US" sz="3400" dirty="0"/>
          </a:p>
        </p:txBody>
      </p:sp>
      <p:sp>
        <p:nvSpPr>
          <p:cNvPr id="4" name="Shape 2"/>
          <p:cNvSpPr/>
          <p:nvPr/>
        </p:nvSpPr>
        <p:spPr>
          <a:xfrm>
            <a:off x="640080" y="1828800"/>
            <a:ext cx="10881360" cy="1371600"/>
          </a:xfrm>
          <a:prstGeom prst="roundRect">
            <a:avLst>
              <a:gd name="adj" fmla="val 4000"/>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121408"/>
            <a:ext cx="1014984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£1,000,000 to build and prove the platform</a:t>
            </a:r>
            <a:endParaRPr lang="en-US" sz="2700" dirty="0"/>
          </a:p>
        </p:txBody>
      </p:sp>
      <p:sp>
        <p:nvSpPr>
          <p:cNvPr id="6" name="Text 4"/>
          <p:cNvSpPr/>
          <p:nvPr/>
        </p:nvSpPr>
        <p:spPr>
          <a:xfrm>
            <a:off x="1005840" y="2633472"/>
            <a:ext cx="10149840" cy="32004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All of it funds the company. No investor money is traded.</a:t>
            </a:r>
            <a:endParaRPr lang="en-US" sz="1200" dirty="0"/>
          </a:p>
        </p:txBody>
      </p:sp>
      <p:sp>
        <p:nvSpPr>
          <p:cNvPr id="7" name="Shape 5"/>
          <p:cNvSpPr/>
          <p:nvPr/>
        </p:nvSpPr>
        <p:spPr>
          <a:xfrm>
            <a:off x="640080" y="34290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Shape 6"/>
          <p:cNvSpPr/>
          <p:nvPr/>
        </p:nvSpPr>
        <p:spPr>
          <a:xfrm>
            <a:off x="914400" y="3611880"/>
            <a:ext cx="420624" cy="420624"/>
          </a:xfrm>
          <a:prstGeom prst="ellipse">
            <a:avLst/>
          </a:prstGeom>
          <a:solidFill>
            <a:srgbClr val="1E2761"/>
          </a:solidFill>
          <a:ln w="12700">
            <a:solidFill>
              <a:srgbClr val="1E2761"/>
            </a:solidFill>
            <a:prstDash val="solid"/>
          </a:ln>
        </p:spPr>
      </p:sp>
      <p:sp>
        <p:nvSpPr>
          <p:cNvPr id="9" name="Text 7"/>
          <p:cNvSpPr/>
          <p:nvPr/>
        </p:nvSpPr>
        <p:spPr>
          <a:xfrm>
            <a:off x="914400" y="3611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17904" y="35387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Research validation</a:t>
            </a:r>
            <a:endParaRPr lang="en-US" sz="1400" dirty="0"/>
          </a:p>
        </p:txBody>
      </p:sp>
      <p:sp>
        <p:nvSpPr>
          <p:cNvPr id="11" name="Text 9"/>
          <p:cNvSpPr/>
          <p:nvPr/>
        </p:nvSpPr>
        <p:spPr>
          <a:xfrm>
            <a:off x="4114800" y="35387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testing across regimes, honest futures sizing, and re-running the study against the questions raised above.</a:t>
            </a:r>
            <a:endParaRPr lang="en-US" sz="1150" dirty="0"/>
          </a:p>
        </p:txBody>
      </p:sp>
      <p:sp>
        <p:nvSpPr>
          <p:cNvPr id="12" name="Shape 10"/>
          <p:cNvSpPr/>
          <p:nvPr/>
        </p:nvSpPr>
        <p:spPr>
          <a:xfrm>
            <a:off x="640080" y="43434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3" name="Shape 11"/>
          <p:cNvSpPr/>
          <p:nvPr/>
        </p:nvSpPr>
        <p:spPr>
          <a:xfrm>
            <a:off x="914400" y="4526280"/>
            <a:ext cx="420624" cy="420624"/>
          </a:xfrm>
          <a:prstGeom prst="ellipse">
            <a:avLst/>
          </a:prstGeom>
          <a:solidFill>
            <a:srgbClr val="1E2761"/>
          </a:solidFill>
          <a:ln w="12700">
            <a:solidFill>
              <a:srgbClr val="1E2761"/>
            </a:solidFill>
            <a:prstDash val="solid"/>
          </a:ln>
        </p:spPr>
      </p:sp>
      <p:sp>
        <p:nvSpPr>
          <p:cNvPr id="14" name="Text 12"/>
          <p:cNvSpPr/>
          <p:nvPr/>
        </p:nvSpPr>
        <p:spPr>
          <a:xfrm>
            <a:off x="914400" y="45262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1517904" y="44531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Data</a:t>
            </a:r>
            <a:endParaRPr lang="en-US" sz="1400" dirty="0"/>
          </a:p>
        </p:txBody>
      </p:sp>
      <p:sp>
        <p:nvSpPr>
          <p:cNvPr id="16" name="Text 14"/>
          <p:cNvSpPr/>
          <p:nvPr/>
        </p:nvSpPr>
        <p:spPr>
          <a:xfrm>
            <a:off x="4114800" y="44531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Market-data subscriptions the account does not hold — spot FX, and options data for a defined-risk hedging sleeve.</a:t>
            </a:r>
            <a:endParaRPr lang="en-US" sz="1150" dirty="0"/>
          </a:p>
        </p:txBody>
      </p:sp>
      <p:sp>
        <p:nvSpPr>
          <p:cNvPr id="17" name="Shape 15"/>
          <p:cNvSpPr/>
          <p:nvPr/>
        </p:nvSpPr>
        <p:spPr>
          <a:xfrm>
            <a:off x="640080" y="52578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8" name="Shape 16"/>
          <p:cNvSpPr/>
          <p:nvPr/>
        </p:nvSpPr>
        <p:spPr>
          <a:xfrm>
            <a:off x="914400" y="5440680"/>
            <a:ext cx="420624" cy="420624"/>
          </a:xfrm>
          <a:prstGeom prst="ellipse">
            <a:avLst/>
          </a:prstGeom>
          <a:solidFill>
            <a:srgbClr val="1E2761"/>
          </a:solidFill>
          <a:ln w="12700">
            <a:solidFill>
              <a:srgbClr val="1E2761"/>
            </a:solidFill>
            <a:prstDash val="solid"/>
          </a:ln>
        </p:spPr>
      </p:sp>
      <p:sp>
        <p:nvSpPr>
          <p:cNvPr id="19" name="Text 17"/>
          <p:cNvSpPr/>
          <p:nvPr/>
        </p:nvSpPr>
        <p:spPr>
          <a:xfrm>
            <a:off x="914400" y="5440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p:nvPr/>
        </p:nvSpPr>
        <p:spPr>
          <a:xfrm>
            <a:off x="1517904" y="53675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Forward record</a:t>
            </a:r>
            <a:endParaRPr lang="en-US" sz="1400" dirty="0"/>
          </a:p>
        </p:txBody>
      </p:sp>
      <p:sp>
        <p:nvSpPr>
          <p:cNvPr id="21" name="Text 19"/>
          <p:cNvSpPr/>
          <p:nvPr/>
        </p:nvSpPr>
        <p:spPr>
          <a:xfrm>
            <a:off x="4114800" y="53675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with published, provenance-stamped results and closed trades.</a:t>
            </a:r>
            <a:endParaRPr lang="en-US" sz="1150" dirty="0"/>
          </a:p>
        </p:txBody>
      </p:sp>
      <p:sp>
        <p:nvSpPr>
          <p:cNvPr id="22" name="Text 20"/>
          <p:cNvSpPr/>
          <p:nvPr/>
        </p:nvSpPr>
        <p:spPr>
          <a:xfrm>
            <a:off x="640080" y="6172200"/>
            <a:ext cx="10881360" cy="3657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Milestone for the next round: a walk-forward result across at least one adverse regime, published in full.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1371600"/>
            <a:ext cx="1024128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we can prove, and what we cannot</a:t>
            </a:r>
            <a:endParaRPr lang="en-US" sz="3600" dirty="0"/>
          </a:p>
        </p:txBody>
      </p:sp>
      <p:sp>
        <p:nvSpPr>
          <p:cNvPr id="3" name="Shape 1"/>
          <p:cNvSpPr/>
          <p:nvPr/>
        </p:nvSpPr>
        <p:spPr>
          <a:xfrm>
            <a:off x="8229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4" name="Text 2"/>
          <p:cNvSpPr/>
          <p:nvPr/>
        </p:nvSpPr>
        <p:spPr>
          <a:xfrm>
            <a:off x="1143000" y="2606040"/>
            <a:ext cx="4389120" cy="365760"/>
          </a:xfrm>
          <a:prstGeom prst="rect">
            <a:avLst/>
          </a:prstGeom>
          <a:noFill/>
          <a:ln/>
        </p:spPr>
        <p:txBody>
          <a:bodyPr wrap="square" lIns="0" tIns="0" rIns="0" bIns="0" rtlCol="0" anchor="ctr"/>
          <a:lstStyle/>
          <a:p>
            <a:pPr indent="0" marL="0">
              <a:buNone/>
            </a:pPr>
            <a:r>
              <a:rPr lang="en-US" sz="2000" b="1" dirty="0">
                <a:solidFill>
                  <a:srgbClr val="6FBF9B"/>
                </a:solidFill>
                <a:latin typeface="Cambria" pitchFamily="34" charset="0"/>
                <a:ea typeface="Cambria" pitchFamily="34" charset="-122"/>
                <a:cs typeface="Cambria" pitchFamily="34" charset="-120"/>
              </a:rPr>
              <a:t>Proven</a:t>
            </a:r>
            <a:endParaRPr lang="en-US" sz="2000" dirty="0"/>
          </a:p>
        </p:txBody>
      </p:sp>
      <p:sp>
        <p:nvSpPr>
          <p:cNvPr id="5" name="Text 3"/>
          <p:cNvSpPr/>
          <p:nvPr/>
        </p:nvSpPr>
        <p:spPr>
          <a:xfrm>
            <a:off x="11430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The system runs live on licensed broker data</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Every price is traceable to a feed and a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Risk limits bind — 926 candidates refused in one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725 automated tests; eight material bugs found and fixed</a:t>
            </a:r>
            <a:endParaRPr lang="en-US" sz="1200" dirty="0"/>
          </a:p>
        </p:txBody>
      </p:sp>
      <p:sp>
        <p:nvSpPr>
          <p:cNvPr id="6" name="Shape 4"/>
          <p:cNvSpPr/>
          <p:nvPr/>
        </p:nvSpPr>
        <p:spPr>
          <a:xfrm>
            <a:off x="63093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5"/>
          <p:cNvSpPr/>
          <p:nvPr/>
        </p:nvSpPr>
        <p:spPr>
          <a:xfrm>
            <a:off x="6629400" y="2606040"/>
            <a:ext cx="4389120" cy="365760"/>
          </a:xfrm>
          <a:prstGeom prst="rect">
            <a:avLst/>
          </a:prstGeom>
          <a:noFill/>
          <a:ln/>
        </p:spPr>
        <p:txBody>
          <a:bodyPr wrap="square" lIns="0" tIns="0" rIns="0" bIns="0" rtlCol="0" anchor="ctr"/>
          <a:lstStyle/>
          <a:p>
            <a:pPr indent="0" marL="0">
              <a:buNone/>
            </a:pPr>
            <a:r>
              <a:rPr lang="en-US" sz="2000" b="1" dirty="0">
                <a:solidFill>
                  <a:srgbClr val="E0A94A"/>
                </a:solidFill>
                <a:latin typeface="Cambria" pitchFamily="34" charset="0"/>
                <a:ea typeface="Cambria" pitchFamily="34" charset="-122"/>
                <a:cs typeface="Cambria" pitchFamily="34" charset="-120"/>
              </a:rPr>
              <a:t>Not proven</a:t>
            </a:r>
            <a:endParaRPr lang="en-US" sz="2000" dirty="0"/>
          </a:p>
        </p:txBody>
      </p:sp>
      <p:sp>
        <p:nvSpPr>
          <p:cNvPr id="8" name="Text 6"/>
          <p:cNvSpPr/>
          <p:nvPr/>
        </p:nvSpPr>
        <p:spPr>
          <a:xfrm>
            <a:off x="66294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strategies beat holding the index</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edge survives a regime it dislikes</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Any forward performance whatsoever</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multi-asset result survives honest futures sizing</a:t>
            </a:r>
            <a:endParaRPr lang="en-US" sz="1200" dirty="0"/>
          </a:p>
        </p:txBody>
      </p:sp>
      <p:sp>
        <p:nvSpPr>
          <p:cNvPr id="9" name="Text 7"/>
          <p:cNvSpPr/>
          <p:nvPr/>
        </p:nvSpPr>
        <p:spPr>
          <a:xfrm>
            <a:off x="822960" y="5440680"/>
            <a:ext cx="1024128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Every figure in this deck is reproducible from the repository.</a:t>
            </a:r>
            <a:endParaRPr lang="en-US" sz="1400" dirty="0"/>
          </a:p>
        </p:txBody>
      </p:sp>
      <p:sp>
        <p:nvSpPr>
          <p:cNvPr id="10" name="Text 8"/>
          <p:cNvSpPr/>
          <p:nvPr/>
        </p:nvSpPr>
        <p:spPr>
          <a:xfrm>
            <a:off x="822960" y="5897880"/>
            <a:ext cx="10241280" cy="640080"/>
          </a:xfrm>
          <a:prstGeom prst="rect">
            <a:avLst/>
          </a:prstGeom>
          <a:noFill/>
          <a:ln/>
        </p:spPr>
        <p:txBody>
          <a:bodyPr wrap="square" lIns="0" tIns="0" rIns="0" bIns="0" rtlCol="0" anchor="ctr"/>
          <a:lstStyle/>
          <a:p>
            <a:pPr indent="0" marL="0">
              <a:buNone/>
            </a:pPr>
            <a:r>
              <a:rPr lang="en-US" sz="950" dirty="0">
                <a:solidFill>
                  <a:srgbClr val="5A6B8C"/>
                </a:solidFill>
                <a:latin typeface="Calibri" pitchFamily="34" charset="0"/>
                <a:ea typeface="Calibri" pitchFamily="34" charset="-122"/>
                <a:cs typeface="Calibri" pitchFamily="34" charset="-120"/>
              </a:rPr>
              <a:t>Research and decision-support software only. Nothing here was executed automatically, nothing here is financial advice, and this document is not an offer or solicitation to buy or sell any security. Past behaviour is not predictive.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Assistant — investor briefing</dc:title>
  <dc:subject>PptxGenJS Presentation</dc:subject>
  <dc:creator>Trade Assistant</dc:creator>
  <cp:lastModifiedBy>Trade Assistant</cp:lastModifiedBy>
  <cp:revision>1</cp:revision>
  <dcterms:created xsi:type="dcterms:W3CDTF">2026-10-02T01:13:55Z</dcterms:created>
  <dcterms:modified xsi:type="dcterms:W3CDTF">2026-10-02T01:13:55Z</dcterms:modified>
</cp:coreProperties>
</file>