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Annual return %</c:v>
                </c:pt>
              </c:strCache>
            </c:strRef>
          </c:tx>
          <c:spPr>
            <a:solidFill>
              <a:srgbClr val="1E2761"/>
            </a:solidFill>
            <a:effectLst/>
          </c:spPr>
          <c:invertIfNegative val="0"/>
          <c:dLbls>
            <c:numFmt formatCode="#,##0" sourceLinked="0"/>
            <c:txPr>
              <a:bodyPr/>
              <a:lstStyle/>
              <a:p>
                <a:pPr>
                  <a:defRPr b="0" i="0" strike="noStrike" sz="950" u="none">
                    <a:solidFill>
                      <a:srgbClr val="5A6B8C"/>
                    </a:solidFill>
                    <a:latin typeface="Arial"/>
                  </a:defRPr>
                </a:pPr>
              </a:p>
            </c:txPr>
            <c:showLegendKey val="0"/>
            <c:showVal val="1"/>
            <c:showCatName val="0"/>
            <c:showSerName val="0"/>
            <c:showPercent val="0"/>
            <c:showBubbleSize val="0"/>
            <c:showLeaderLines val="0"/>
          </c:dLbls>
          <c:cat>
            <c:multiLvlStrRef>
              <c:f>Sheet1!$A$2:$A$6</c:f>
              <c:multiLvlStrCache>
                <c:ptCount val="5"/>
                <c:lvl>
                  <c:pt idx="0">
                    <c:v>Buy &amp; hold</c:v>
                  </c:pt>
                  <c:pt idx="1">
                    <c:v>Mean Reversion</c:v>
                  </c:pt>
                  <c:pt idx="2">
                    <c:v>4-strategy blend</c:v>
                  </c:pt>
                  <c:pt idx="3">
                    <c:v>Trend Following</c:v>
                  </c:pt>
                  <c:pt idx="4">
                    <c:v>Dual Momentum</c:v>
                  </c:pt>
                </c:lvl>
              </c:multiLvlStrCache>
            </c:multiLvlStrRef>
          </c:cat>
          <c:val>
            <c:numRef>
              <c:f>Sheet1!$B$2:$B$6</c:f>
              <c:numCache>
                <c:formatCode>General</c:formatCode>
                <c:ptCount val="5"/>
                <c:pt idx="0">
                  <c:v>23.68</c:v>
                </c:pt>
                <c:pt idx="1">
                  <c:v>20.18</c:v>
                </c:pt>
                <c:pt idx="2">
                  <c:v>19.2</c:v>
                </c:pt>
                <c:pt idx="3">
                  <c:v>17.55</c:v>
                </c:pt>
                <c:pt idx="4">
                  <c:v>14.07</c:v>
                </c:pt>
              </c:numCache>
            </c:numRef>
          </c:val>
        </c:ser>
        <c:ser>
          <c:idx val="1"/>
          <c:order val="1"/>
          <c:tx>
            <c:strRef>
              <c:f>Sheet1!$C$1</c:f>
              <c:strCache>
                <c:ptCount val="1"/>
                <c:pt idx="0">
                  <c:v>Max drawdown %</c:v>
                </c:pt>
              </c:strCache>
            </c:strRef>
          </c:tx>
          <c:spPr>
            <a:solidFill>
              <a:srgbClr val="C8871B"/>
            </a:solidFill>
            <a:effectLst/>
          </c:spPr>
          <c:invertIfNegative val="0"/>
          <c:dLbls>
            <c:numFmt formatCode="#,##0" sourceLinked="0"/>
            <c:txPr>
              <a:bodyPr/>
              <a:lstStyle/>
              <a:p>
                <a:pPr>
                  <a:defRPr b="0" i="0" strike="noStrike" sz="950" u="none">
                    <a:solidFill>
                      <a:srgbClr val="5A6B8C"/>
                    </a:solidFill>
                    <a:latin typeface="Arial"/>
                  </a:defRPr>
                </a:pPr>
              </a:p>
            </c:txPr>
            <c:showLegendKey val="0"/>
            <c:showVal val="1"/>
            <c:showCatName val="0"/>
            <c:showSerName val="0"/>
            <c:showPercent val="0"/>
            <c:showBubbleSize val="0"/>
            <c:showLeaderLines val="0"/>
          </c:dLbls>
          <c:cat>
            <c:multiLvlStrRef>
              <c:f>Sheet1!$A$2:$A$6</c:f>
              <c:multiLvlStrCache>
                <c:ptCount val="5"/>
                <c:lvl>
                  <c:pt idx="0">
                    <c:v>Buy &amp; hold</c:v>
                  </c:pt>
                  <c:pt idx="1">
                    <c:v>Mean Reversion</c:v>
                  </c:pt>
                  <c:pt idx="2">
                    <c:v>4-strategy blend</c:v>
                  </c:pt>
                  <c:pt idx="3">
                    <c:v>Trend Following</c:v>
                  </c:pt>
                  <c:pt idx="4">
                    <c:v>Dual Momentum</c:v>
                  </c:pt>
                </c:lvl>
              </c:multiLvlStrCache>
            </c:multiLvlStrRef>
          </c:cat>
          <c:val>
            <c:numRef>
              <c:f>Sheet1!$C$2:$C$6</c:f>
              <c:numCache>
                <c:formatCode>General</c:formatCode>
                <c:ptCount val="5"/>
                <c:pt idx="0">
                  <c:v>37.76</c:v>
                </c:pt>
                <c:pt idx="1">
                  <c:v>22.62</c:v>
                </c:pt>
                <c:pt idx="2">
                  <c:v>23.67</c:v>
                </c:pt>
                <c:pt idx="3">
                  <c:v>30.61</c:v>
                </c:pt>
                <c:pt idx="4">
                  <c:v>28.94</c:v>
                </c:pt>
              </c:numCache>
            </c:numRef>
          </c:val>
        </c:ser>
        <c:dLbls>
          <c:numFmt formatCode="#,##0" sourceLinked="0"/>
          <c:txPr>
            <a:bodyPr/>
            <a:lstStyle/>
            <a:p>
              <a:pPr>
                <a:defRPr b="0" i="0" strike="noStrike" sz="950" u="none">
                  <a:solidFill>
                    <a:srgbClr val="5A6B8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B8C"/>
                </a:solidFill>
                <a:latin typeface="Arial"/>
              </a:defRPr>
            </a:pPr>
            <a:endParaRPr lang="en-US"/>
          </a:p>
        </c:txPr>
        <c:crossAx val="2094734552"/>
        <c:crosses val="autoZero"/>
        <c:auto val="1"/>
        <c:lblAlgn val="ctr"/>
        <c:noMultiLvlLbl val="1"/>
      </c:catAx>
      <c:valAx>
        <c:axId val="2094734552"/>
        <c:scaling>
          <c:orientation val="minMax"/>
          <c:max val="45"/>
        </c:scaling>
        <c:delete val="0"/>
        <c:axPos val="l"/>
        <c:majorGridlines>
          <c:spPr>
            <a:ln w="12700" cap="flat">
              <a:solidFill>
                <a:srgbClr val="E2E8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8C"/>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5A6B8C"/>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saying what the company is: research infrastructure for systematic trading. The single differentiator is that the system is built to be checkable — it reports what it does not know. Do not open with returns; the returns slide is deliberately later and is not a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are not hypothetical — all three were found and fixed in this codebase, and the deck names them later. Point 3 is the one professional allocators care most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columns are the product. Refusal is the hardest to build and the easiest to explain: a system that says 'I don't know' is worth more than one that guesses convincingly.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has it done live' — answer directly: it is a simulated paper book, no real-money order has been placed, and anyone quoting live performance after a few weeks of paper trading is telling you something about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benchmark choice is the point. Comparing against the same instruments equal-weighted is the hardest fair test; most decks compare against something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this slide. The −3.5 / −15.1 framing is the actual proposition: same ballpark return for materially less pain. An allocator who can tolerate a 38% drawdown should buy the index, and saying so builds more credibility than it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4.2 of the study — combining everything made it worse — is the most interesting result and the one most likely to start a real conversation with a quant-literate investor.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Presenting limitations you found yourself, before being asked, is the strongest available signal that the favourable numbers were measured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pitch. Anyone can produce a backtest; the scarce skill is catching the errors that make backtests lie. Two of the eight were caught by the founder auditing generated code — that is the working method being funded.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Leading the roadmap with the test that could disprove the product is unusual and is the point. If the walk-forward fails, that is worth knowing before more money goes in, not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£1m ask is explicitly structured to maximize capital deployed (£900k) vs overhead (£100k). Emphasize that the operating budget goes directly to AI computation speed and better data feeds.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two-column split. Ending on what is not proven is the strongest note available — it tells the investor that everything in the left column was held to the same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533"/>
        </a:solidFill>
      </p:bgPr>
    </p:bg>
    <p:spTree>
      <p:nvGrpSpPr>
        <p:cNvPr id="1" name=""/>
        <p:cNvGrpSpPr/>
        <p:nvPr/>
      </p:nvGrpSpPr>
      <p:grpSpPr>
        <a:xfrm>
          <a:off x="0" y="0"/>
          <a:ext cx="0" cy="0"/>
          <a:chOff x="0" y="0"/>
          <a:chExt cx="0" cy="0"/>
        </a:xfrm>
      </p:grpSpPr>
      <p:sp>
        <p:nvSpPr>
          <p:cNvPr id="2" name="Text 0"/>
          <p:cNvSpPr/>
          <p:nvPr/>
        </p:nvSpPr>
        <p:spPr>
          <a:xfrm>
            <a:off x="822960" y="2057400"/>
            <a:ext cx="10058400" cy="86868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Trade Assistant</a:t>
            </a:r>
            <a:endParaRPr lang="en-US" sz="5200" dirty="0"/>
          </a:p>
        </p:txBody>
      </p:sp>
      <p:sp>
        <p:nvSpPr>
          <p:cNvPr id="3" name="Text 1"/>
          <p:cNvSpPr/>
          <p:nvPr/>
        </p:nvSpPr>
        <p:spPr>
          <a:xfrm>
            <a:off x="822960" y="2971800"/>
            <a:ext cx="9509760" cy="54864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A systematic research platform that refuses to overstate what it knows</a:t>
            </a:r>
            <a:endParaRPr lang="en-US" sz="1900" dirty="0"/>
          </a:p>
        </p:txBody>
      </p:sp>
      <p:sp>
        <p:nvSpPr>
          <p:cNvPr id="4" name="Shape 2"/>
          <p:cNvSpPr/>
          <p:nvPr/>
        </p:nvSpPr>
        <p:spPr>
          <a:xfrm>
            <a:off x="822960" y="3794760"/>
            <a:ext cx="2011680" cy="0"/>
          </a:xfrm>
          <a:prstGeom prst="line">
            <a:avLst/>
          </a:prstGeom>
          <a:noFill/>
          <a:ln w="31750">
            <a:solidFill>
              <a:srgbClr val="C8871B"/>
            </a:solidFill>
            <a:prstDash val="solid"/>
          </a:ln>
        </p:spPr>
      </p:sp>
      <p:sp>
        <p:nvSpPr>
          <p:cNvPr id="5" name="Text 3"/>
          <p:cNvSpPr/>
          <p:nvPr/>
        </p:nvSpPr>
        <p:spPr>
          <a:xfrm>
            <a:off x="822960" y="4114800"/>
            <a:ext cx="10058400" cy="822960"/>
          </a:xfrm>
          <a:prstGeom prst="rect">
            <a:avLst/>
          </a:prstGeom>
          <a:noFill/>
          <a:ln/>
        </p:spPr>
        <p:txBody>
          <a:bodyPr wrap="square" lIns="0" tIns="0" rIns="0" bIns="0" rtlCol="0" anchor="ctr"/>
          <a:lstStyle/>
          <a:p>
            <a:pPr indent="0" marL="0">
              <a:lnSpc>
                <a:spcPts val="2200"/>
              </a:lnSpc>
              <a:buNone/>
            </a:pPr>
            <a:r>
              <a:rPr lang="en-US" sz="1350" dirty="0">
                <a:solidFill>
                  <a:srgbClr val="9FB2D8"/>
                </a:solidFill>
                <a:latin typeface="Calibri" pitchFamily="34" charset="0"/>
                <a:ea typeface="Calibri" pitchFamily="34" charset="-122"/>
                <a:cs typeface="Calibri" pitchFamily="34" charset="-120"/>
              </a:rPr>
              <a:t>12 strategies from published papers   ·   528 instruments   ·   8.94 years</a:t>
            </a:r>
            <a:endParaRPr lang="en-US" sz="1350" dirty="0"/>
          </a:p>
          <a:p>
            <a:pPr indent="0" marL="0">
              <a:lnSpc>
                <a:spcPts val="2200"/>
              </a:lnSpc>
              <a:buNone/>
            </a:pPr>
            <a:r>
              <a:rPr lang="en-US" sz="1350" dirty="0">
                <a:solidFill>
                  <a:srgbClr val="9FB2D8"/>
                </a:solidFill>
                <a:latin typeface="Calibri" pitchFamily="34" charset="0"/>
                <a:ea typeface="Calibri" pitchFamily="34" charset="-122"/>
                <a:cs typeface="Calibri" pitchFamily="34" charset="-120"/>
              </a:rPr>
              <a:t>62,319 signals   ·   725 automated tests   ·   live on licensed broker data</a:t>
            </a:r>
            <a:endParaRPr lang="en-US" sz="1350" dirty="0"/>
          </a:p>
        </p:txBody>
      </p:sp>
      <p:sp>
        <p:nvSpPr>
          <p:cNvPr id="6" name="Text 4"/>
          <p:cNvSpPr/>
          <p:nvPr/>
        </p:nvSpPr>
        <p:spPr>
          <a:xfrm>
            <a:off x="822960" y="6035040"/>
            <a:ext cx="10058400" cy="320040"/>
          </a:xfrm>
          <a:prstGeom prst="rect">
            <a:avLst/>
          </a:prstGeom>
          <a:noFill/>
          <a:ln/>
        </p:spPr>
        <p:txBody>
          <a:bodyPr wrap="square" lIns="0" tIns="0" rIns="0" bIns="0" rtlCol="0" anchor="ctr"/>
          <a:lstStyle/>
          <a:p>
            <a:pPr indent="0" marL="0">
              <a:buNone/>
            </a:pPr>
            <a:r>
              <a:rPr lang="en-US" sz="1050" dirty="0">
                <a:solidFill>
                  <a:srgbClr val="5A6B8C"/>
                </a:solidFill>
                <a:latin typeface="Calibri" pitchFamily="34" charset="0"/>
                <a:ea typeface="Calibri" pitchFamily="34" charset="-122"/>
                <a:cs typeface="Calibri" pitchFamily="34" charset="-120"/>
              </a:rPr>
              <a:t>Investor briefing  ·  6 September 2026  ·  Research only — not financial advice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200" b="1" spc="200" kern="0" dirty="0">
                <a:solidFill>
                  <a:srgbClr val="5A6B8C"/>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Most trading research quietly lies about its own data</a:t>
            </a:r>
            <a:endParaRPr lang="en-US" sz="3400" dirty="0"/>
          </a:p>
        </p:txBody>
      </p:sp>
      <p:sp>
        <p:nvSpPr>
          <p:cNvPr id="4" name="Shape 2"/>
          <p:cNvSpPr/>
          <p:nvPr/>
        </p:nvSpPr>
        <p:spPr>
          <a:xfrm>
            <a:off x="640080" y="1828800"/>
            <a:ext cx="10881360" cy="1207008"/>
          </a:xfrm>
          <a:prstGeom prst="roundRect">
            <a:avLst>
              <a:gd name="adj" fmla="val 4545"/>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5" name="Shape 3"/>
          <p:cNvSpPr/>
          <p:nvPr/>
        </p:nvSpPr>
        <p:spPr>
          <a:xfrm>
            <a:off x="914400" y="2212848"/>
            <a:ext cx="420624" cy="420624"/>
          </a:xfrm>
          <a:prstGeom prst="ellipse">
            <a:avLst/>
          </a:prstGeom>
          <a:solidFill>
            <a:srgbClr val="1E2761"/>
          </a:solidFill>
          <a:ln w="12700">
            <a:solidFill>
              <a:srgbClr val="1E2761"/>
            </a:solidFill>
            <a:prstDash val="solid"/>
          </a:ln>
        </p:spPr>
      </p:sp>
      <p:sp>
        <p:nvSpPr>
          <p:cNvPr id="6" name="Text 4"/>
          <p:cNvSpPr/>
          <p:nvPr/>
        </p:nvSpPr>
        <p:spPr>
          <a:xfrm>
            <a:off x="914400" y="221284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517904" y="2029968"/>
            <a:ext cx="9692640" cy="384048"/>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A feed goes down. The dashboard keeps showing the last price it had.</a:t>
            </a:r>
            <a:endParaRPr lang="en-US" sz="1550" dirty="0"/>
          </a:p>
        </p:txBody>
      </p:sp>
      <p:sp>
        <p:nvSpPr>
          <p:cNvPr id="8" name="Text 6"/>
          <p:cNvSpPr/>
          <p:nvPr/>
        </p:nvSpPr>
        <p:spPr>
          <a:xfrm>
            <a:off x="1517904" y="2432304"/>
            <a:ext cx="9692640" cy="457200"/>
          </a:xfrm>
          <a:prstGeom prst="rect">
            <a:avLst/>
          </a:prstGeom>
          <a:noFill/>
          <a:ln/>
        </p:spPr>
        <p:txBody>
          <a:bodyPr wrap="square" lIns="0" tIns="0" rIns="0" bIns="0" rtlCol="0" anchor="ctr"/>
          <a:lstStyle/>
          <a:p>
            <a:pPr indent="0" marL="0">
              <a:buNone/>
            </a:pPr>
            <a:r>
              <a:rPr lang="en-US" sz="1250" dirty="0">
                <a:solidFill>
                  <a:srgbClr val="5A6B8C"/>
                </a:solidFill>
                <a:latin typeface="Calibri" pitchFamily="34" charset="0"/>
                <a:ea typeface="Calibri" pitchFamily="34" charset="-122"/>
                <a:cs typeface="Calibri" pitchFamily="34" charset="-120"/>
              </a:rPr>
              <a:t>Nothing on screen distinguishes a live quote from a three-day-old one. Decisions get made on both.</a:t>
            </a:r>
            <a:endParaRPr lang="en-US" sz="1250" dirty="0"/>
          </a:p>
        </p:txBody>
      </p:sp>
      <p:sp>
        <p:nvSpPr>
          <p:cNvPr id="9" name="Shape 7"/>
          <p:cNvSpPr/>
          <p:nvPr/>
        </p:nvSpPr>
        <p:spPr>
          <a:xfrm>
            <a:off x="640080" y="3200400"/>
            <a:ext cx="10881360" cy="1207008"/>
          </a:xfrm>
          <a:prstGeom prst="roundRect">
            <a:avLst>
              <a:gd name="adj" fmla="val 4545"/>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10" name="Shape 8"/>
          <p:cNvSpPr/>
          <p:nvPr/>
        </p:nvSpPr>
        <p:spPr>
          <a:xfrm>
            <a:off x="914400" y="3584448"/>
            <a:ext cx="420624" cy="420624"/>
          </a:xfrm>
          <a:prstGeom prst="ellipse">
            <a:avLst/>
          </a:prstGeom>
          <a:solidFill>
            <a:srgbClr val="1E2761"/>
          </a:solidFill>
          <a:ln w="12700">
            <a:solidFill>
              <a:srgbClr val="1E2761"/>
            </a:solidFill>
            <a:prstDash val="solid"/>
          </a:ln>
        </p:spPr>
      </p:sp>
      <p:sp>
        <p:nvSpPr>
          <p:cNvPr id="11" name="Text 9"/>
          <p:cNvSpPr/>
          <p:nvPr/>
        </p:nvSpPr>
        <p:spPr>
          <a:xfrm>
            <a:off x="914400" y="358444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17904" y="3401568"/>
            <a:ext cx="9692640" cy="384048"/>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Data arrives from whichever source answered.</a:t>
            </a:r>
            <a:endParaRPr lang="en-US" sz="1550" dirty="0"/>
          </a:p>
        </p:txBody>
      </p:sp>
      <p:sp>
        <p:nvSpPr>
          <p:cNvPr id="13" name="Text 11"/>
          <p:cNvSpPr/>
          <p:nvPr/>
        </p:nvSpPr>
        <p:spPr>
          <a:xfrm>
            <a:off x="1517904" y="3803904"/>
            <a:ext cx="9692640" cy="457200"/>
          </a:xfrm>
          <a:prstGeom prst="rect">
            <a:avLst/>
          </a:prstGeom>
          <a:noFill/>
          <a:ln/>
        </p:spPr>
        <p:txBody>
          <a:bodyPr wrap="square" lIns="0" tIns="0" rIns="0" bIns="0" rtlCol="0" anchor="ctr"/>
          <a:lstStyle/>
          <a:p>
            <a:pPr indent="0" marL="0">
              <a:buNone/>
            </a:pPr>
            <a:r>
              <a:rPr lang="en-US" sz="1250" dirty="0">
                <a:solidFill>
                  <a:srgbClr val="5A6B8C"/>
                </a:solidFill>
                <a:latin typeface="Calibri" pitchFamily="34" charset="0"/>
                <a:ea typeface="Calibri" pitchFamily="34" charset="-122"/>
                <a:cs typeface="Calibri" pitchFamily="34" charset="-120"/>
              </a:rPr>
              <a:t>Licensed broker data and free scraped data get mixed in one table, with no record of which produced which number.</a:t>
            </a:r>
            <a:endParaRPr lang="en-US" sz="1250" dirty="0"/>
          </a:p>
        </p:txBody>
      </p:sp>
      <p:sp>
        <p:nvSpPr>
          <p:cNvPr id="14" name="Shape 12"/>
          <p:cNvSpPr/>
          <p:nvPr/>
        </p:nvSpPr>
        <p:spPr>
          <a:xfrm>
            <a:off x="640080" y="4572000"/>
            <a:ext cx="10881360" cy="1207008"/>
          </a:xfrm>
          <a:prstGeom prst="roundRect">
            <a:avLst>
              <a:gd name="adj" fmla="val 4545"/>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15" name="Shape 13"/>
          <p:cNvSpPr/>
          <p:nvPr/>
        </p:nvSpPr>
        <p:spPr>
          <a:xfrm>
            <a:off x="914400" y="4956048"/>
            <a:ext cx="420624" cy="420624"/>
          </a:xfrm>
          <a:prstGeom prst="ellipse">
            <a:avLst/>
          </a:prstGeom>
          <a:solidFill>
            <a:srgbClr val="C8871B"/>
          </a:solidFill>
          <a:ln w="12700">
            <a:solidFill>
              <a:srgbClr val="C8871B"/>
            </a:solidFill>
            <a:prstDash val="solid"/>
          </a:ln>
        </p:spPr>
      </p:sp>
      <p:sp>
        <p:nvSpPr>
          <p:cNvPr id="16" name="Text 14"/>
          <p:cNvSpPr/>
          <p:nvPr/>
        </p:nvSpPr>
        <p:spPr>
          <a:xfrm>
            <a:off x="914400" y="495604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517904" y="4773168"/>
            <a:ext cx="9692640" cy="384048"/>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A backtest is tuned until it looks good.</a:t>
            </a:r>
            <a:endParaRPr lang="en-US" sz="1550" dirty="0"/>
          </a:p>
        </p:txBody>
      </p:sp>
      <p:sp>
        <p:nvSpPr>
          <p:cNvPr id="18" name="Text 16"/>
          <p:cNvSpPr/>
          <p:nvPr/>
        </p:nvSpPr>
        <p:spPr>
          <a:xfrm>
            <a:off x="1517904" y="5175504"/>
            <a:ext cx="9692640" cy="457200"/>
          </a:xfrm>
          <a:prstGeom prst="rect">
            <a:avLst/>
          </a:prstGeom>
          <a:noFill/>
          <a:ln/>
        </p:spPr>
        <p:txBody>
          <a:bodyPr wrap="square" lIns="0" tIns="0" rIns="0" bIns="0" rtlCol="0" anchor="ctr"/>
          <a:lstStyle/>
          <a:p>
            <a:pPr indent="0" marL="0">
              <a:buNone/>
            </a:pPr>
            <a:r>
              <a:rPr lang="en-US" sz="1250" dirty="0">
                <a:solidFill>
                  <a:srgbClr val="5A6B8C"/>
                </a:solidFill>
                <a:latin typeface="Calibri" pitchFamily="34" charset="0"/>
                <a:ea typeface="Calibri" pitchFamily="34" charset="-122"/>
                <a:cs typeface="Calibri" pitchFamily="34" charset="-120"/>
              </a:rPr>
              <a:t>The settings that produced the headline figure were chosen knowing how the decade turned out.</a:t>
            </a:r>
            <a:endParaRPr lang="en-US" sz="1250" dirty="0"/>
          </a:p>
        </p:txBody>
      </p:sp>
      <p:sp>
        <p:nvSpPr>
          <p:cNvPr id="19" name="Text 17"/>
          <p:cNvSpPr/>
          <p:nvPr/>
        </p:nvSpPr>
        <p:spPr>
          <a:xfrm>
            <a:off x="640080" y="5897880"/>
            <a:ext cx="10881360" cy="365760"/>
          </a:xfrm>
          <a:prstGeom prst="rect">
            <a:avLst/>
          </a:prstGeom>
          <a:noFill/>
          <a:ln/>
        </p:spPr>
        <p:txBody>
          <a:bodyPr wrap="square" lIns="0" tIns="0" rIns="0" bIns="0" rtlCol="0" anchor="ctr"/>
          <a:lstStyle/>
          <a:p>
            <a:pPr indent="0" marL="0">
              <a:buNone/>
            </a:pPr>
            <a:r>
              <a:rPr lang="en-US" sz="1400" b="1" i="1" dirty="0">
                <a:solidFill>
                  <a:srgbClr val="C8871B"/>
                </a:solidFill>
                <a:latin typeface="Calibri" pitchFamily="34" charset="0"/>
                <a:ea typeface="Calibri" pitchFamily="34" charset="-122"/>
                <a:cs typeface="Calibri" pitchFamily="34" charset="-120"/>
              </a:rPr>
              <a:t>Each failure looks exactly like a working system. That is what makes them expensive.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200" b="1" spc="200" kern="0" dirty="0">
                <a:solidFill>
                  <a:srgbClr val="5A6B8C"/>
                </a:solidFill>
                <a:latin typeface="Calibri" pitchFamily="34" charset="0"/>
                <a:ea typeface="Calibri" pitchFamily="34" charset="-122"/>
                <a:cs typeface="Calibri" pitchFamily="34" charset="-120"/>
              </a:rPr>
              <a:t>WHAT WE BUILT</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A research stack where every number carries its origin</a:t>
            </a:r>
            <a:endParaRPr lang="en-US" sz="3400" dirty="0"/>
          </a:p>
        </p:txBody>
      </p:sp>
      <p:sp>
        <p:nvSpPr>
          <p:cNvPr id="4" name="Shape 2"/>
          <p:cNvSpPr/>
          <p:nvPr/>
        </p:nvSpPr>
        <p:spPr>
          <a:xfrm>
            <a:off x="640080" y="1828800"/>
            <a:ext cx="2624328" cy="3200400"/>
          </a:xfrm>
          <a:prstGeom prst="roundRect">
            <a:avLst>
              <a:gd name="adj" fmla="val 2091"/>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5" name="Shape 3"/>
          <p:cNvSpPr/>
          <p:nvPr/>
        </p:nvSpPr>
        <p:spPr>
          <a:xfrm>
            <a:off x="896112" y="2103120"/>
            <a:ext cx="457200" cy="457200"/>
          </a:xfrm>
          <a:prstGeom prst="ellipse">
            <a:avLst/>
          </a:prstGeom>
          <a:solidFill>
            <a:srgbClr val="2C7A5A"/>
          </a:solidFill>
          <a:ln w="12700">
            <a:solidFill>
              <a:srgbClr val="2C7A5A"/>
            </a:solidFill>
            <a:prstDash val="solid"/>
          </a:ln>
        </p:spPr>
      </p:sp>
      <p:sp>
        <p:nvSpPr>
          <p:cNvPr id="6" name="Text 4"/>
          <p:cNvSpPr/>
          <p:nvPr/>
        </p:nvSpPr>
        <p:spPr>
          <a:xfrm>
            <a:off x="896112" y="2103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96112" y="2697480"/>
            <a:ext cx="210312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Provenance</a:t>
            </a:r>
            <a:endParaRPr lang="en-US" sz="1800" dirty="0"/>
          </a:p>
        </p:txBody>
      </p:sp>
      <p:sp>
        <p:nvSpPr>
          <p:cNvPr id="8" name="Text 6"/>
          <p:cNvSpPr/>
          <p:nvPr/>
        </p:nvSpPr>
        <p:spPr>
          <a:xfrm>
            <a:off x="896112" y="3108960"/>
            <a:ext cx="2148840" cy="1737360"/>
          </a:xfrm>
          <a:prstGeom prst="rect">
            <a:avLst/>
          </a:prstGeom>
          <a:noFill/>
          <a:ln/>
        </p:spPr>
        <p:txBody>
          <a:bodyPr wrap="square" lIns="0" tIns="0" rIns="0" bIns="0" rtlCol="0" anchor="ctr"/>
          <a:lstStyle/>
          <a:p>
            <a:pPr indent="0" marL="0">
              <a:buNone/>
            </a:pPr>
            <a:r>
              <a:rPr lang="en-US" sz="1150" dirty="0">
                <a:solidFill>
                  <a:srgbClr val="5A6B8C"/>
                </a:solidFill>
                <a:latin typeface="Calibri" pitchFamily="34" charset="0"/>
                <a:ea typeface="Calibri" pitchFamily="34" charset="-122"/>
                <a:cs typeface="Calibri" pitchFamily="34" charset="-120"/>
              </a:rPr>
              <a:t>Every price records which feed produced it and which trading session it belongs to. A book priced from a mixture cannot claim to be licensed.</a:t>
            </a:r>
            <a:endParaRPr lang="en-US" sz="1150" dirty="0"/>
          </a:p>
        </p:txBody>
      </p:sp>
      <p:sp>
        <p:nvSpPr>
          <p:cNvPr id="9" name="Shape 7"/>
          <p:cNvSpPr/>
          <p:nvPr/>
        </p:nvSpPr>
        <p:spPr>
          <a:xfrm>
            <a:off x="3383280" y="1828800"/>
            <a:ext cx="2624328" cy="3200400"/>
          </a:xfrm>
          <a:prstGeom prst="roundRect">
            <a:avLst>
              <a:gd name="adj" fmla="val 2091"/>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10" name="Shape 8"/>
          <p:cNvSpPr/>
          <p:nvPr/>
        </p:nvSpPr>
        <p:spPr>
          <a:xfrm>
            <a:off x="3639312" y="2103120"/>
            <a:ext cx="457200" cy="457200"/>
          </a:xfrm>
          <a:prstGeom prst="ellipse">
            <a:avLst/>
          </a:prstGeom>
          <a:solidFill>
            <a:srgbClr val="1E2761"/>
          </a:solidFill>
          <a:ln w="12700">
            <a:solidFill>
              <a:srgbClr val="1E2761"/>
            </a:solidFill>
            <a:prstDash val="solid"/>
          </a:ln>
        </p:spPr>
      </p:sp>
      <p:sp>
        <p:nvSpPr>
          <p:cNvPr id="11" name="Text 9"/>
          <p:cNvSpPr/>
          <p:nvPr/>
        </p:nvSpPr>
        <p:spPr>
          <a:xfrm>
            <a:off x="3639312" y="2103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3639312" y="2697480"/>
            <a:ext cx="210312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Freshness</a:t>
            </a:r>
            <a:endParaRPr lang="en-US" sz="1800" dirty="0"/>
          </a:p>
        </p:txBody>
      </p:sp>
      <p:sp>
        <p:nvSpPr>
          <p:cNvPr id="13" name="Text 11"/>
          <p:cNvSpPr/>
          <p:nvPr/>
        </p:nvSpPr>
        <p:spPr>
          <a:xfrm>
            <a:off x="3639312" y="3108960"/>
            <a:ext cx="2148840" cy="1737360"/>
          </a:xfrm>
          <a:prstGeom prst="rect">
            <a:avLst/>
          </a:prstGeom>
          <a:noFill/>
          <a:ln/>
        </p:spPr>
        <p:txBody>
          <a:bodyPr wrap="square" lIns="0" tIns="0" rIns="0" bIns="0" rtlCol="0" anchor="ctr"/>
          <a:lstStyle/>
          <a:p>
            <a:pPr indent="0" marL="0">
              <a:buNone/>
            </a:pPr>
            <a:r>
              <a:rPr lang="en-US" sz="1150" dirty="0">
                <a:solidFill>
                  <a:srgbClr val="5A6B8C"/>
                </a:solidFill>
                <a:latin typeface="Calibri" pitchFamily="34" charset="0"/>
                <a:ea typeface="Calibri" pitchFamily="34" charset="-122"/>
                <a:cs typeface="Calibri" pitchFamily="34" charset="-120"/>
              </a:rPr>
              <a:t>Staleness is judged against each market's own trading calendar, not the clock. A Friday close read on Monday is correct, and the system says so.</a:t>
            </a:r>
            <a:endParaRPr lang="en-US" sz="1150" dirty="0"/>
          </a:p>
        </p:txBody>
      </p:sp>
      <p:sp>
        <p:nvSpPr>
          <p:cNvPr id="14" name="Shape 12"/>
          <p:cNvSpPr/>
          <p:nvPr/>
        </p:nvSpPr>
        <p:spPr>
          <a:xfrm>
            <a:off x="6126480" y="1828800"/>
            <a:ext cx="2624328" cy="3200400"/>
          </a:xfrm>
          <a:prstGeom prst="roundRect">
            <a:avLst>
              <a:gd name="adj" fmla="val 2091"/>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15" name="Shape 13"/>
          <p:cNvSpPr/>
          <p:nvPr/>
        </p:nvSpPr>
        <p:spPr>
          <a:xfrm>
            <a:off x="6382512" y="2103120"/>
            <a:ext cx="457200" cy="457200"/>
          </a:xfrm>
          <a:prstGeom prst="ellipse">
            <a:avLst/>
          </a:prstGeom>
          <a:solidFill>
            <a:srgbClr val="1E2761"/>
          </a:solidFill>
          <a:ln w="12700">
            <a:solidFill>
              <a:srgbClr val="1E2761"/>
            </a:solidFill>
            <a:prstDash val="solid"/>
          </a:ln>
        </p:spPr>
      </p:sp>
      <p:sp>
        <p:nvSpPr>
          <p:cNvPr id="16" name="Text 14"/>
          <p:cNvSpPr/>
          <p:nvPr/>
        </p:nvSpPr>
        <p:spPr>
          <a:xfrm>
            <a:off x="6382512" y="2103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6382512" y="2697480"/>
            <a:ext cx="210312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Coverage</a:t>
            </a:r>
            <a:endParaRPr lang="en-US" sz="1800" dirty="0"/>
          </a:p>
        </p:txBody>
      </p:sp>
      <p:sp>
        <p:nvSpPr>
          <p:cNvPr id="18" name="Text 16"/>
          <p:cNvSpPr/>
          <p:nvPr/>
        </p:nvSpPr>
        <p:spPr>
          <a:xfrm>
            <a:off x="6382512" y="3108960"/>
            <a:ext cx="2148840" cy="1737360"/>
          </a:xfrm>
          <a:prstGeom prst="rect">
            <a:avLst/>
          </a:prstGeom>
          <a:noFill/>
          <a:ln/>
        </p:spPr>
        <p:txBody>
          <a:bodyPr wrap="square" lIns="0" tIns="0" rIns="0" bIns="0" rtlCol="0" anchor="ctr"/>
          <a:lstStyle/>
          <a:p>
            <a:pPr indent="0" marL="0">
              <a:buNone/>
            </a:pPr>
            <a:r>
              <a:rPr lang="en-US" sz="1150" dirty="0">
                <a:solidFill>
                  <a:srgbClr val="5A6B8C"/>
                </a:solidFill>
                <a:latin typeface="Calibri" pitchFamily="34" charset="0"/>
                <a:ea typeface="Calibri" pitchFamily="34" charset="-122"/>
                <a:cs typeface="Calibri" pitchFamily="34" charset="-120"/>
              </a:rPr>
              <a:t>The system measures what the licensed feed can actually price, and names the subscription that would unlock the rest.</a:t>
            </a:r>
            <a:endParaRPr lang="en-US" sz="1150" dirty="0"/>
          </a:p>
        </p:txBody>
      </p:sp>
      <p:sp>
        <p:nvSpPr>
          <p:cNvPr id="19" name="Shape 17"/>
          <p:cNvSpPr/>
          <p:nvPr/>
        </p:nvSpPr>
        <p:spPr>
          <a:xfrm>
            <a:off x="8869680" y="1828800"/>
            <a:ext cx="2624328" cy="3200400"/>
          </a:xfrm>
          <a:prstGeom prst="roundRect">
            <a:avLst>
              <a:gd name="adj" fmla="val 2091"/>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20" name="Shape 18"/>
          <p:cNvSpPr/>
          <p:nvPr/>
        </p:nvSpPr>
        <p:spPr>
          <a:xfrm>
            <a:off x="9125712" y="2103120"/>
            <a:ext cx="457200" cy="457200"/>
          </a:xfrm>
          <a:prstGeom prst="ellipse">
            <a:avLst/>
          </a:prstGeom>
          <a:solidFill>
            <a:srgbClr val="C8871B"/>
          </a:solidFill>
          <a:ln w="12700">
            <a:solidFill>
              <a:srgbClr val="C8871B"/>
            </a:solidFill>
            <a:prstDash val="solid"/>
          </a:ln>
        </p:spPr>
      </p:sp>
      <p:sp>
        <p:nvSpPr>
          <p:cNvPr id="21" name="Text 19"/>
          <p:cNvSpPr/>
          <p:nvPr/>
        </p:nvSpPr>
        <p:spPr>
          <a:xfrm>
            <a:off x="9125712" y="2103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9125712" y="2697480"/>
            <a:ext cx="210312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Refusal</a:t>
            </a:r>
            <a:endParaRPr lang="en-US" sz="1800" dirty="0"/>
          </a:p>
        </p:txBody>
      </p:sp>
      <p:sp>
        <p:nvSpPr>
          <p:cNvPr id="23" name="Text 21"/>
          <p:cNvSpPr/>
          <p:nvPr/>
        </p:nvSpPr>
        <p:spPr>
          <a:xfrm>
            <a:off x="9125712" y="3108960"/>
            <a:ext cx="2148840" cy="1737360"/>
          </a:xfrm>
          <a:prstGeom prst="rect">
            <a:avLst/>
          </a:prstGeom>
          <a:noFill/>
          <a:ln/>
        </p:spPr>
        <p:txBody>
          <a:bodyPr wrap="square" lIns="0" tIns="0" rIns="0" bIns="0" rtlCol="0" anchor="ctr"/>
          <a:lstStyle/>
          <a:p>
            <a:pPr indent="0" marL="0">
              <a:buNone/>
            </a:pPr>
            <a:r>
              <a:rPr lang="en-US" sz="1150" dirty="0">
                <a:solidFill>
                  <a:srgbClr val="5A6B8C"/>
                </a:solidFill>
                <a:latin typeface="Calibri" pitchFamily="34" charset="0"/>
                <a:ea typeface="Calibri" pitchFamily="34" charset="-122"/>
                <a:cs typeface="Calibri" pitchFamily="34" charset="-120"/>
              </a:rPr>
              <a:t>Where data is missing, the system reports a gap rather than substituting a plausible number.</a:t>
            </a:r>
            <a:endParaRPr lang="en-US" sz="1150" dirty="0"/>
          </a:p>
        </p:txBody>
      </p:sp>
      <p:sp>
        <p:nvSpPr>
          <p:cNvPr id="24" name="Text 22"/>
          <p:cNvSpPr/>
          <p:nvPr/>
        </p:nvSpPr>
        <p:spPr>
          <a:xfrm>
            <a:off x="640080" y="5303520"/>
            <a:ext cx="10881360" cy="548640"/>
          </a:xfrm>
          <a:prstGeom prst="rect">
            <a:avLst/>
          </a:prstGeom>
          <a:noFill/>
          <a:ln/>
        </p:spPr>
        <p:txBody>
          <a:bodyPr wrap="square" lIns="0" tIns="0" rIns="0" bIns="0" rtlCol="0" anchor="ctr"/>
          <a:lstStyle/>
          <a:p>
            <a:pPr indent="0" marL="0">
              <a:buNone/>
            </a:pPr>
            <a:r>
              <a:rPr lang="en-US" sz="1300" dirty="0">
                <a:solidFill>
                  <a:srgbClr val="1E2761"/>
                </a:solidFill>
                <a:latin typeface="Calibri" pitchFamily="34" charset="0"/>
                <a:ea typeface="Calibri" pitchFamily="34" charset="-122"/>
                <a:cs typeface="Calibri" pitchFamily="34" charset="-120"/>
              </a:rPr>
              <a:t>Six independent safety gates sit between a research idea and any order. None can be bypassed in code; one requires a human to type the ticker.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200" b="1" spc="200" kern="0" dirty="0">
                <a:solidFill>
                  <a:srgbClr val="5A6B8C"/>
                </a:solidFill>
                <a:latin typeface="Calibri" pitchFamily="34" charset="0"/>
                <a:ea typeface="Calibri" pitchFamily="34" charset="-122"/>
                <a:cs typeface="Calibri" pitchFamily="34" charset="-120"/>
              </a:rPr>
              <a:t>VERIFIED 17 AUGUST 2026</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Running live, on licensed broker data</a:t>
            </a:r>
            <a:endParaRPr lang="en-US" sz="3400" dirty="0"/>
          </a:p>
        </p:txBody>
      </p:sp>
      <p:sp>
        <p:nvSpPr>
          <p:cNvPr id="4" name="Shape 2"/>
          <p:cNvSpPr/>
          <p:nvPr/>
        </p:nvSpPr>
        <p:spPr>
          <a:xfrm>
            <a:off x="640080" y="1783080"/>
            <a:ext cx="10881360" cy="1691640"/>
          </a:xfrm>
          <a:prstGeom prst="roundRect">
            <a:avLst>
              <a:gd name="adj" fmla="val 3243"/>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5" name="Text 3"/>
          <p:cNvSpPr/>
          <p:nvPr/>
        </p:nvSpPr>
        <p:spPr>
          <a:xfrm>
            <a:off x="1005840" y="2057400"/>
            <a:ext cx="2194560" cy="713232"/>
          </a:xfrm>
          <a:prstGeom prst="rect">
            <a:avLst/>
          </a:prstGeom>
          <a:noFill/>
          <a:ln/>
        </p:spPr>
        <p:txBody>
          <a:bodyPr wrap="square" lIns="0" tIns="0" rIns="0" bIns="0" rtlCol="0" anchor="ctr"/>
          <a:lstStyle/>
          <a:p>
            <a:pPr indent="0" marL="0">
              <a:buNone/>
            </a:pPr>
            <a:r>
              <a:rPr lang="en-US" sz="4000" b="1" dirty="0">
                <a:solidFill>
                  <a:srgbClr val="2C7A5A"/>
                </a:solidFill>
                <a:latin typeface="Cambria" pitchFamily="34" charset="0"/>
                <a:ea typeface="Cambria" pitchFamily="34" charset="-122"/>
                <a:cs typeface="Cambria" pitchFamily="34" charset="-120"/>
              </a:rPr>
              <a:t>90 / 98</a:t>
            </a:r>
            <a:endParaRPr lang="en-US" sz="4000" dirty="0"/>
          </a:p>
        </p:txBody>
      </p:sp>
      <p:sp>
        <p:nvSpPr>
          <p:cNvPr id="6" name="Text 4"/>
          <p:cNvSpPr/>
          <p:nvPr/>
        </p:nvSpPr>
        <p:spPr>
          <a:xfrm>
            <a:off x="1005840" y="2752344"/>
            <a:ext cx="2194560" cy="457200"/>
          </a:xfrm>
          <a:prstGeom prst="rect">
            <a:avLst/>
          </a:prstGeom>
          <a:noFill/>
          <a:ln/>
        </p:spPr>
        <p:txBody>
          <a:bodyPr wrap="square" lIns="0" tIns="0" rIns="0" bIns="0" rtlCol="0" anchor="ctr"/>
          <a:lstStyle/>
          <a:p>
            <a:pPr indent="0" marL="0">
              <a:buNone/>
            </a:pPr>
            <a:r>
              <a:rPr lang="en-US" sz="1150" dirty="0">
                <a:solidFill>
                  <a:srgbClr val="5A6B8C"/>
                </a:solidFill>
                <a:latin typeface="Calibri" pitchFamily="34" charset="0"/>
                <a:ea typeface="Calibri" pitchFamily="34" charset="-122"/>
                <a:cs typeface="Calibri" pitchFamily="34" charset="-120"/>
              </a:rPr>
              <a:t>watchlist instruments priced by the licensed IBKR feed</a:t>
            </a:r>
            <a:endParaRPr lang="en-US" sz="1150" dirty="0"/>
          </a:p>
        </p:txBody>
      </p:sp>
      <p:sp>
        <p:nvSpPr>
          <p:cNvPr id="7" name="Text 5"/>
          <p:cNvSpPr/>
          <p:nvPr/>
        </p:nvSpPr>
        <p:spPr>
          <a:xfrm>
            <a:off x="3657600" y="2057400"/>
            <a:ext cx="2194560" cy="713232"/>
          </a:xfrm>
          <a:prstGeom prst="rect">
            <a:avLst/>
          </a:prstGeom>
          <a:noFill/>
          <a:ln/>
        </p:spPr>
        <p:txBody>
          <a:bodyPr wrap="square" lIns="0" tIns="0" rIns="0" bIns="0"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24</a:t>
            </a:r>
            <a:endParaRPr lang="en-US" sz="4000" dirty="0"/>
          </a:p>
        </p:txBody>
      </p:sp>
      <p:sp>
        <p:nvSpPr>
          <p:cNvPr id="8" name="Text 6"/>
          <p:cNvSpPr/>
          <p:nvPr/>
        </p:nvSpPr>
        <p:spPr>
          <a:xfrm>
            <a:off x="3657600" y="2752344"/>
            <a:ext cx="2194560" cy="457200"/>
          </a:xfrm>
          <a:prstGeom prst="rect">
            <a:avLst/>
          </a:prstGeom>
          <a:noFill/>
          <a:ln/>
        </p:spPr>
        <p:txBody>
          <a:bodyPr wrap="square" lIns="0" tIns="0" rIns="0" bIns="0" rtlCol="0" anchor="ctr"/>
          <a:lstStyle/>
          <a:p>
            <a:pPr indent="0" marL="0">
              <a:buNone/>
            </a:pPr>
            <a:r>
              <a:rPr lang="en-US" sz="1150" dirty="0">
                <a:solidFill>
                  <a:srgbClr val="5A6B8C"/>
                </a:solidFill>
                <a:latin typeface="Calibri" pitchFamily="34" charset="0"/>
                <a:ea typeface="Calibri" pitchFamily="34" charset="-122"/>
                <a:cs typeface="Calibri" pitchFamily="34" charset="-120"/>
              </a:rPr>
              <a:t>live positions, every one provenance-stamped</a:t>
            </a:r>
            <a:endParaRPr lang="en-US" sz="1150" dirty="0"/>
          </a:p>
        </p:txBody>
      </p:sp>
      <p:sp>
        <p:nvSpPr>
          <p:cNvPr id="9" name="Text 7"/>
          <p:cNvSpPr/>
          <p:nvPr/>
        </p:nvSpPr>
        <p:spPr>
          <a:xfrm>
            <a:off x="6309360" y="2057400"/>
            <a:ext cx="2194560" cy="713232"/>
          </a:xfrm>
          <a:prstGeom prst="rect">
            <a:avLst/>
          </a:prstGeom>
          <a:noFill/>
          <a:ln/>
        </p:spPr>
        <p:txBody>
          <a:bodyPr wrap="square" lIns="0" tIns="0" rIns="0" bIns="0" rtlCol="0" anchor="ctr"/>
          <a:lstStyle/>
          <a:p>
            <a:pPr indent="0" marL="0">
              <a:buNone/>
            </a:pPr>
            <a:r>
              <a:rPr lang="en-US" sz="4000" b="1" dirty="0">
                <a:solidFill>
                  <a:srgbClr val="2C7A5A"/>
                </a:solidFill>
                <a:latin typeface="Cambria" pitchFamily="34" charset="0"/>
                <a:ea typeface="Cambria" pitchFamily="34" charset="-122"/>
                <a:cs typeface="Cambria" pitchFamily="34" charset="-120"/>
              </a:rPr>
              <a:t>100%</a:t>
            </a:r>
            <a:endParaRPr lang="en-US" sz="4000" dirty="0"/>
          </a:p>
        </p:txBody>
      </p:sp>
      <p:sp>
        <p:nvSpPr>
          <p:cNvPr id="10" name="Text 8"/>
          <p:cNvSpPr/>
          <p:nvPr/>
        </p:nvSpPr>
        <p:spPr>
          <a:xfrm>
            <a:off x="6309360" y="2752344"/>
            <a:ext cx="2194560" cy="457200"/>
          </a:xfrm>
          <a:prstGeom prst="rect">
            <a:avLst/>
          </a:prstGeom>
          <a:noFill/>
          <a:ln/>
        </p:spPr>
        <p:txBody>
          <a:bodyPr wrap="square" lIns="0" tIns="0" rIns="0" bIns="0" rtlCol="0" anchor="ctr"/>
          <a:lstStyle/>
          <a:p>
            <a:pPr indent="0" marL="0">
              <a:buNone/>
            </a:pPr>
            <a:r>
              <a:rPr lang="en-US" sz="1150" dirty="0">
                <a:solidFill>
                  <a:srgbClr val="5A6B8C"/>
                </a:solidFill>
                <a:latin typeface="Calibri" pitchFamily="34" charset="0"/>
                <a:ea typeface="Calibri" pitchFamily="34" charset="-122"/>
                <a:cs typeface="Calibri" pitchFamily="34" charset="-120"/>
              </a:rPr>
              <a:t>of marks from the licensed feed, verified per position</a:t>
            </a:r>
            <a:endParaRPr lang="en-US" sz="1150" dirty="0"/>
          </a:p>
        </p:txBody>
      </p:sp>
      <p:sp>
        <p:nvSpPr>
          <p:cNvPr id="11" name="Text 9"/>
          <p:cNvSpPr/>
          <p:nvPr/>
        </p:nvSpPr>
        <p:spPr>
          <a:xfrm>
            <a:off x="8961120" y="2057400"/>
            <a:ext cx="2194560" cy="713232"/>
          </a:xfrm>
          <a:prstGeom prst="rect">
            <a:avLst/>
          </a:prstGeom>
          <a:noFill/>
          <a:ln/>
        </p:spPr>
        <p:txBody>
          <a:bodyPr wrap="square" lIns="0" tIns="0" rIns="0" bIns="0"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725</a:t>
            </a:r>
            <a:endParaRPr lang="en-US" sz="4000" dirty="0"/>
          </a:p>
        </p:txBody>
      </p:sp>
      <p:sp>
        <p:nvSpPr>
          <p:cNvPr id="12" name="Text 10"/>
          <p:cNvSpPr/>
          <p:nvPr/>
        </p:nvSpPr>
        <p:spPr>
          <a:xfrm>
            <a:off x="8961120" y="2752344"/>
            <a:ext cx="2194560" cy="457200"/>
          </a:xfrm>
          <a:prstGeom prst="rect">
            <a:avLst/>
          </a:prstGeom>
          <a:noFill/>
          <a:ln/>
        </p:spPr>
        <p:txBody>
          <a:bodyPr wrap="square" lIns="0" tIns="0" rIns="0" bIns="0" rtlCol="0" anchor="ctr"/>
          <a:lstStyle/>
          <a:p>
            <a:pPr indent="0" marL="0">
              <a:buNone/>
            </a:pPr>
            <a:r>
              <a:rPr lang="en-US" sz="1150" dirty="0">
                <a:solidFill>
                  <a:srgbClr val="5A6B8C"/>
                </a:solidFill>
                <a:latin typeface="Calibri" pitchFamily="34" charset="0"/>
                <a:ea typeface="Calibri" pitchFamily="34" charset="-122"/>
                <a:cs typeface="Calibri" pitchFamily="34" charset="-120"/>
              </a:rPr>
              <a:t>automated tests passing</a:t>
            </a:r>
            <a:endParaRPr lang="en-US" sz="1150" dirty="0"/>
          </a:p>
        </p:txBody>
      </p:sp>
      <p:sp>
        <p:nvSpPr>
          <p:cNvPr id="13" name="Shape 11"/>
          <p:cNvSpPr/>
          <p:nvPr/>
        </p:nvSpPr>
        <p:spPr>
          <a:xfrm>
            <a:off x="640080" y="3703320"/>
            <a:ext cx="5349240" cy="2194560"/>
          </a:xfrm>
          <a:prstGeom prst="roundRect">
            <a:avLst>
              <a:gd name="adj" fmla="val 2500"/>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14" name="Text 12"/>
          <p:cNvSpPr/>
          <p:nvPr/>
        </p:nvSpPr>
        <p:spPr>
          <a:xfrm>
            <a:off x="914400" y="3913632"/>
            <a:ext cx="475488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Found by building it properly</a:t>
            </a:r>
            <a:endParaRPr lang="en-US" sz="1700" dirty="0"/>
          </a:p>
        </p:txBody>
      </p:sp>
      <p:sp>
        <p:nvSpPr>
          <p:cNvPr id="15" name="Text 13"/>
          <p:cNvSpPr/>
          <p:nvPr/>
        </p:nvSpPr>
        <p:spPr>
          <a:xfrm>
            <a:off x="914400" y="4297680"/>
            <a:ext cx="4846320" cy="146304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5A6B8C"/>
                </a:solidFill>
                <a:latin typeface="Calibri" pitchFamily="34" charset="0"/>
                <a:ea typeface="Calibri" pitchFamily="34" charset="-122"/>
                <a:cs typeface="Calibri" pitchFamily="34" charset="-120"/>
              </a:rPr>
              <a:t>The broker's own symbols for London listings and currency futures were mismatched — 5 instruments were invisible</a:t>
            </a:r>
            <a:endParaRPr lang="en-US" sz="1150" dirty="0"/>
          </a:p>
          <a:p>
            <a:pPr marL="342900" indent="-342900">
              <a:spcAft>
                <a:spcPts val="600"/>
              </a:spcAft>
              <a:buSzPct val="100000"/>
              <a:buChar char="•"/>
            </a:pPr>
            <a:r>
              <a:rPr lang="en-US" sz="1150" dirty="0">
                <a:solidFill>
                  <a:srgbClr val="5A6B8C"/>
                </a:solidFill>
                <a:latin typeface="Calibri" pitchFamily="34" charset="0"/>
                <a:ea typeface="Calibri" pitchFamily="34" charset="-122"/>
                <a:cs typeface="Calibri" pitchFamily="34" charset="-120"/>
              </a:rPr>
              <a:t>One fixed client ID meant a second process silently fell back to unlicensed data</a:t>
            </a:r>
            <a:endParaRPr lang="en-US" sz="1150" dirty="0"/>
          </a:p>
          <a:p>
            <a:pPr marL="342900" indent="-342900">
              <a:spcAft>
                <a:spcPts val="600"/>
              </a:spcAft>
              <a:buSzPct val="100000"/>
              <a:buChar char="•"/>
            </a:pPr>
            <a:r>
              <a:rPr lang="en-US" sz="1150" dirty="0">
                <a:solidFill>
                  <a:srgbClr val="5A6B8C"/>
                </a:solidFill>
                <a:latin typeface="Calibri" pitchFamily="34" charset="0"/>
                <a:ea typeface="Calibri" pitchFamily="34" charset="-122"/>
                <a:cs typeface="Calibri" pitchFamily="34" charset="-120"/>
              </a:rPr>
              <a:t>A demo holding shipped in config was being rendered as a real position</a:t>
            </a:r>
            <a:endParaRPr lang="en-US" sz="1150" dirty="0"/>
          </a:p>
        </p:txBody>
      </p:sp>
      <p:sp>
        <p:nvSpPr>
          <p:cNvPr id="16" name="Shape 14"/>
          <p:cNvSpPr/>
          <p:nvPr/>
        </p:nvSpPr>
        <p:spPr>
          <a:xfrm>
            <a:off x="6172200" y="3703320"/>
            <a:ext cx="5349240" cy="2194560"/>
          </a:xfrm>
          <a:prstGeom prst="roundRect">
            <a:avLst>
              <a:gd name="adj" fmla="val 2500"/>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17" name="Text 15"/>
          <p:cNvSpPr/>
          <p:nvPr/>
        </p:nvSpPr>
        <p:spPr>
          <a:xfrm>
            <a:off x="6446520" y="3913632"/>
            <a:ext cx="4754880" cy="365760"/>
          </a:xfrm>
          <a:prstGeom prst="rect">
            <a:avLst/>
          </a:prstGeom>
          <a:noFill/>
          <a:ln/>
        </p:spPr>
        <p:txBody>
          <a:bodyPr wrap="square" lIns="0" tIns="0" rIns="0" bIns="0" rtlCol="0" anchor="ctr"/>
          <a:lstStyle/>
          <a:p>
            <a:pPr indent="0" marL="0">
              <a:buNone/>
            </a:pPr>
            <a:r>
              <a:rPr lang="en-US" sz="1700" b="1" dirty="0">
                <a:solidFill>
                  <a:srgbClr val="C8871B"/>
                </a:solidFill>
                <a:latin typeface="Cambria" pitchFamily="34" charset="0"/>
                <a:ea typeface="Cambria" pitchFamily="34" charset="-122"/>
                <a:cs typeface="Cambria" pitchFamily="34" charset="-120"/>
              </a:rPr>
              <a:t>What the live book is not</a:t>
            </a:r>
            <a:endParaRPr lang="en-US" sz="1700" dirty="0"/>
          </a:p>
        </p:txBody>
      </p:sp>
      <p:sp>
        <p:nvSpPr>
          <p:cNvPr id="18" name="Text 16"/>
          <p:cNvSpPr/>
          <p:nvPr/>
        </p:nvSpPr>
        <p:spPr>
          <a:xfrm>
            <a:off x="6446520" y="4315968"/>
            <a:ext cx="4846320" cy="1371600"/>
          </a:xfrm>
          <a:prstGeom prst="rect">
            <a:avLst/>
          </a:prstGeom>
          <a:noFill/>
          <a:ln/>
        </p:spPr>
        <p:txBody>
          <a:bodyPr wrap="square" lIns="0" tIns="0" rIns="0" bIns="0" rtlCol="0" anchor="ctr"/>
          <a:lstStyle/>
          <a:p>
            <a:pPr indent="0" marL="0">
              <a:buNone/>
            </a:pPr>
            <a:r>
              <a:rPr lang="en-US" sz="1250" dirty="0">
                <a:solidFill>
                  <a:srgbClr val="5A6B8C"/>
                </a:solidFill>
                <a:latin typeface="Calibri" pitchFamily="34" charset="0"/>
                <a:ea typeface="Calibri" pitchFamily="34" charset="-122"/>
                <a:cs typeface="Calibri" pitchFamily="34" charset="-120"/>
              </a:rPr>
              <a:t>It is a simulated paper book that began on 15 August 2026. It is evidence that the system runs, prices honestly, and respects its risk limits. A few weeks of paper trading is not a track record, and no real-money order has been placed.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200" b="1" spc="200" kern="0" dirty="0">
                <a:solidFill>
                  <a:srgbClr val="5A6B8C"/>
                </a:solidFill>
                <a:latin typeface="Calibri" pitchFamily="34" charset="0"/>
                <a:ea typeface="Calibri" pitchFamily="34" charset="-122"/>
                <a:cs typeface="Calibri" pitchFamily="34" charset="-120"/>
              </a:rPr>
              <a:t>THE BACKTEST</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What was tested</a:t>
            </a:r>
            <a:endParaRPr lang="en-US" sz="3400" dirty="0"/>
          </a:p>
        </p:txBody>
      </p:sp>
      <p:sp>
        <p:nvSpPr>
          <p:cNvPr id="4" name="Shape 2"/>
          <p:cNvSpPr/>
          <p:nvPr/>
        </p:nvSpPr>
        <p:spPr>
          <a:xfrm>
            <a:off x="640080" y="1828800"/>
            <a:ext cx="2624328" cy="1600200"/>
          </a:xfrm>
          <a:prstGeom prst="roundRect">
            <a:avLst>
              <a:gd name="adj" fmla="val 3429"/>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5" name="Text 3"/>
          <p:cNvSpPr/>
          <p:nvPr/>
        </p:nvSpPr>
        <p:spPr>
          <a:xfrm>
            <a:off x="914400" y="2011680"/>
            <a:ext cx="2103120" cy="658368"/>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528</a:t>
            </a:r>
            <a:endParaRPr lang="en-US" sz="3600" dirty="0"/>
          </a:p>
        </p:txBody>
      </p:sp>
      <p:sp>
        <p:nvSpPr>
          <p:cNvPr id="6" name="Text 4"/>
          <p:cNvSpPr/>
          <p:nvPr/>
        </p:nvSpPr>
        <p:spPr>
          <a:xfrm>
            <a:off x="914400" y="2697480"/>
            <a:ext cx="2148840" cy="640080"/>
          </a:xfrm>
          <a:prstGeom prst="rect">
            <a:avLst/>
          </a:prstGeom>
          <a:noFill/>
          <a:ln/>
        </p:spPr>
        <p:txBody>
          <a:bodyPr wrap="square" lIns="0" tIns="0" rIns="0" bIns="0" rtlCol="0" anchor="ctr"/>
          <a:lstStyle/>
          <a:p>
            <a:pPr indent="0" marL="0">
              <a:buNone/>
            </a:pPr>
            <a:r>
              <a:rPr lang="en-US" sz="1150" dirty="0">
                <a:solidFill>
                  <a:srgbClr val="5A6B8C"/>
                </a:solidFill>
                <a:latin typeface="Calibri" pitchFamily="34" charset="0"/>
                <a:ea typeface="Calibri" pitchFamily="34" charset="-122"/>
                <a:cs typeface="Calibri" pitchFamily="34" charset="-120"/>
              </a:rPr>
              <a:t>instruments</a:t>
            </a:r>
            <a:endParaRPr lang="en-US" sz="1150" dirty="0"/>
          </a:p>
          <a:p>
            <a:pPr indent="0" marL="0">
              <a:buNone/>
            </a:pPr>
            <a:r>
              <a:rPr lang="en-US" sz="1150" dirty="0">
                <a:solidFill>
                  <a:srgbClr val="5A6B8C"/>
                </a:solidFill>
                <a:latin typeface="Calibri" pitchFamily="34" charset="0"/>
                <a:ea typeface="Calibri" pitchFamily="34" charset="-122"/>
                <a:cs typeface="Calibri" pitchFamily="34" charset="-120"/>
              </a:rPr>
              <a:t>500 US equities · 8 FX · 20 futures</a:t>
            </a:r>
            <a:endParaRPr lang="en-US" sz="1150" dirty="0"/>
          </a:p>
        </p:txBody>
      </p:sp>
      <p:sp>
        <p:nvSpPr>
          <p:cNvPr id="7" name="Shape 5"/>
          <p:cNvSpPr/>
          <p:nvPr/>
        </p:nvSpPr>
        <p:spPr>
          <a:xfrm>
            <a:off x="3383280" y="1828800"/>
            <a:ext cx="2624328" cy="1600200"/>
          </a:xfrm>
          <a:prstGeom prst="roundRect">
            <a:avLst>
              <a:gd name="adj" fmla="val 3429"/>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8" name="Text 6"/>
          <p:cNvSpPr/>
          <p:nvPr/>
        </p:nvSpPr>
        <p:spPr>
          <a:xfrm>
            <a:off x="3657600" y="2011680"/>
            <a:ext cx="2103120" cy="658368"/>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12</a:t>
            </a:r>
            <a:endParaRPr lang="en-US" sz="3600" dirty="0"/>
          </a:p>
        </p:txBody>
      </p:sp>
      <p:sp>
        <p:nvSpPr>
          <p:cNvPr id="9" name="Text 7"/>
          <p:cNvSpPr/>
          <p:nvPr/>
        </p:nvSpPr>
        <p:spPr>
          <a:xfrm>
            <a:off x="3657600" y="2697480"/>
            <a:ext cx="2148840" cy="640080"/>
          </a:xfrm>
          <a:prstGeom prst="rect">
            <a:avLst/>
          </a:prstGeom>
          <a:noFill/>
          <a:ln/>
        </p:spPr>
        <p:txBody>
          <a:bodyPr wrap="square" lIns="0" tIns="0" rIns="0" bIns="0" rtlCol="0" anchor="ctr"/>
          <a:lstStyle/>
          <a:p>
            <a:pPr indent="0" marL="0">
              <a:buNone/>
            </a:pPr>
            <a:r>
              <a:rPr lang="en-US" sz="1150" dirty="0">
                <a:solidFill>
                  <a:srgbClr val="5A6B8C"/>
                </a:solidFill>
                <a:latin typeface="Calibri" pitchFamily="34" charset="0"/>
                <a:ea typeface="Calibri" pitchFamily="34" charset="-122"/>
                <a:cs typeface="Calibri" pitchFamily="34" charset="-120"/>
              </a:rPr>
              <a:t>strategies</a:t>
            </a:r>
            <a:endParaRPr lang="en-US" sz="1150" dirty="0"/>
          </a:p>
          <a:p>
            <a:pPr indent="0" marL="0">
              <a:buNone/>
            </a:pPr>
            <a:r>
              <a:rPr lang="en-US" sz="1150" dirty="0">
                <a:solidFill>
                  <a:srgbClr val="5A6B8C"/>
                </a:solidFill>
                <a:latin typeface="Calibri" pitchFamily="34" charset="0"/>
                <a:ea typeface="Calibri" pitchFamily="34" charset="-122"/>
                <a:cs typeface="Calibri" pitchFamily="34" charset="-120"/>
              </a:rPr>
              <a:t>each from a published paper</a:t>
            </a:r>
            <a:endParaRPr lang="en-US" sz="1150" dirty="0"/>
          </a:p>
        </p:txBody>
      </p:sp>
      <p:sp>
        <p:nvSpPr>
          <p:cNvPr id="10" name="Shape 8"/>
          <p:cNvSpPr/>
          <p:nvPr/>
        </p:nvSpPr>
        <p:spPr>
          <a:xfrm>
            <a:off x="6126480" y="1828800"/>
            <a:ext cx="2624328" cy="1600200"/>
          </a:xfrm>
          <a:prstGeom prst="roundRect">
            <a:avLst>
              <a:gd name="adj" fmla="val 3429"/>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11" name="Text 9"/>
          <p:cNvSpPr/>
          <p:nvPr/>
        </p:nvSpPr>
        <p:spPr>
          <a:xfrm>
            <a:off x="6400800" y="2011680"/>
            <a:ext cx="2103120" cy="658368"/>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8.94</a:t>
            </a:r>
            <a:endParaRPr lang="en-US" sz="3600" dirty="0"/>
          </a:p>
        </p:txBody>
      </p:sp>
      <p:sp>
        <p:nvSpPr>
          <p:cNvPr id="12" name="Text 10"/>
          <p:cNvSpPr/>
          <p:nvPr/>
        </p:nvSpPr>
        <p:spPr>
          <a:xfrm>
            <a:off x="6400800" y="2697480"/>
            <a:ext cx="2148840" cy="640080"/>
          </a:xfrm>
          <a:prstGeom prst="rect">
            <a:avLst/>
          </a:prstGeom>
          <a:noFill/>
          <a:ln/>
        </p:spPr>
        <p:txBody>
          <a:bodyPr wrap="square" lIns="0" tIns="0" rIns="0" bIns="0" rtlCol="0" anchor="ctr"/>
          <a:lstStyle/>
          <a:p>
            <a:pPr indent="0" marL="0">
              <a:buNone/>
            </a:pPr>
            <a:r>
              <a:rPr lang="en-US" sz="1150" dirty="0">
                <a:solidFill>
                  <a:srgbClr val="5A6B8C"/>
                </a:solidFill>
                <a:latin typeface="Calibri" pitchFamily="34" charset="0"/>
                <a:ea typeface="Calibri" pitchFamily="34" charset="-122"/>
                <a:cs typeface="Calibri" pitchFamily="34" charset="-120"/>
              </a:rPr>
              <a:t>years of daily bars</a:t>
            </a:r>
            <a:endParaRPr lang="en-US" sz="1150" dirty="0"/>
          </a:p>
        </p:txBody>
      </p:sp>
      <p:sp>
        <p:nvSpPr>
          <p:cNvPr id="13" name="Shape 11"/>
          <p:cNvSpPr/>
          <p:nvPr/>
        </p:nvSpPr>
        <p:spPr>
          <a:xfrm>
            <a:off x="8869680" y="1828800"/>
            <a:ext cx="2624328" cy="1600200"/>
          </a:xfrm>
          <a:prstGeom prst="roundRect">
            <a:avLst>
              <a:gd name="adj" fmla="val 3429"/>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14" name="Text 12"/>
          <p:cNvSpPr/>
          <p:nvPr/>
        </p:nvSpPr>
        <p:spPr>
          <a:xfrm>
            <a:off x="9144000" y="2011680"/>
            <a:ext cx="2103120" cy="658368"/>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62,319</a:t>
            </a:r>
            <a:endParaRPr lang="en-US" sz="3600" dirty="0"/>
          </a:p>
        </p:txBody>
      </p:sp>
      <p:sp>
        <p:nvSpPr>
          <p:cNvPr id="15" name="Text 13"/>
          <p:cNvSpPr/>
          <p:nvPr/>
        </p:nvSpPr>
        <p:spPr>
          <a:xfrm>
            <a:off x="9144000" y="2697480"/>
            <a:ext cx="2148840" cy="640080"/>
          </a:xfrm>
          <a:prstGeom prst="rect">
            <a:avLst/>
          </a:prstGeom>
          <a:noFill/>
          <a:ln/>
        </p:spPr>
        <p:txBody>
          <a:bodyPr wrap="square" lIns="0" tIns="0" rIns="0" bIns="0" rtlCol="0" anchor="ctr"/>
          <a:lstStyle/>
          <a:p>
            <a:pPr indent="0" marL="0">
              <a:buNone/>
            </a:pPr>
            <a:r>
              <a:rPr lang="en-US" sz="1150" dirty="0">
                <a:solidFill>
                  <a:srgbClr val="5A6B8C"/>
                </a:solidFill>
                <a:latin typeface="Calibri" pitchFamily="34" charset="0"/>
                <a:ea typeface="Calibri" pitchFamily="34" charset="-122"/>
                <a:cs typeface="Calibri" pitchFamily="34" charset="-120"/>
              </a:rPr>
              <a:t>signals generated</a:t>
            </a:r>
            <a:endParaRPr lang="en-US" sz="1150" dirty="0"/>
          </a:p>
        </p:txBody>
      </p:sp>
      <p:sp>
        <p:nvSpPr>
          <p:cNvPr id="16" name="Shape 14"/>
          <p:cNvSpPr/>
          <p:nvPr/>
        </p:nvSpPr>
        <p:spPr>
          <a:xfrm>
            <a:off x="640080" y="3657600"/>
            <a:ext cx="10881360" cy="2240280"/>
          </a:xfrm>
          <a:prstGeom prst="roundRect">
            <a:avLst>
              <a:gd name="adj" fmla="val 2449"/>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17" name="Text 15"/>
          <p:cNvSpPr/>
          <p:nvPr/>
        </p:nvSpPr>
        <p:spPr>
          <a:xfrm>
            <a:off x="960120" y="3877056"/>
            <a:ext cx="987552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Modelled honestly, on purpose</a:t>
            </a:r>
            <a:endParaRPr lang="en-US" sz="1800" dirty="0"/>
          </a:p>
        </p:txBody>
      </p:sp>
      <p:sp>
        <p:nvSpPr>
          <p:cNvPr id="18" name="Text 16"/>
          <p:cNvSpPr/>
          <p:nvPr/>
        </p:nvSpPr>
        <p:spPr>
          <a:xfrm>
            <a:off x="960120" y="4297680"/>
            <a:ext cx="9875520" cy="146304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5A6B8C"/>
                </a:solidFill>
                <a:latin typeface="Calibri" pitchFamily="34" charset="0"/>
                <a:ea typeface="Calibri" pitchFamily="34" charset="-122"/>
                <a:cs typeface="Calibri" pitchFamily="34" charset="-120"/>
              </a:rPr>
              <a:t>Commission and slippage charged on both sides of every trade</a:t>
            </a:r>
            <a:endParaRPr lang="en-US" sz="1250" dirty="0"/>
          </a:p>
          <a:p>
            <a:pPr marL="342900" indent="-342900">
              <a:spcAft>
                <a:spcPts val="700"/>
              </a:spcAft>
              <a:buSzPct val="100000"/>
              <a:buChar char="•"/>
            </a:pPr>
            <a:r>
              <a:rPr lang="en-US" sz="1250" dirty="0">
                <a:solidFill>
                  <a:srgbClr val="5A6B8C"/>
                </a:solidFill>
                <a:latin typeface="Calibri" pitchFamily="34" charset="0"/>
                <a:ea typeface="Calibri" pitchFamily="34" charset="-122"/>
                <a:cs typeface="Calibri" pitchFamily="34" charset="-120"/>
              </a:rPr>
              <a:t>Compounding equity, gross exposure cap, position and correlation limits — the same limits the live system enforces</a:t>
            </a:r>
            <a:endParaRPr lang="en-US" sz="1250" dirty="0"/>
          </a:p>
          <a:p>
            <a:pPr marL="342900" indent="-342900">
              <a:spcAft>
                <a:spcPts val="700"/>
              </a:spcAft>
              <a:buSzPct val="100000"/>
              <a:buChar char="•"/>
            </a:pPr>
            <a:r>
              <a:rPr lang="en-US" sz="1250" dirty="0">
                <a:solidFill>
                  <a:srgbClr val="5A6B8C"/>
                </a:solidFill>
                <a:latin typeface="Calibri" pitchFamily="34" charset="0"/>
                <a:ea typeface="Calibri" pitchFamily="34" charset="-122"/>
                <a:cs typeface="Calibri" pitchFamily="34" charset="-120"/>
              </a:rPr>
              <a:t>Where one bar covers both stop and target, the stop is always assumed — deliberately pessimistic</a:t>
            </a:r>
            <a:endParaRPr lang="en-US" sz="1250" dirty="0"/>
          </a:p>
          <a:p>
            <a:pPr marL="342900" indent="-342900">
              <a:spcAft>
                <a:spcPts val="700"/>
              </a:spcAft>
              <a:buSzPct val="100000"/>
              <a:buChar char="•"/>
            </a:pPr>
            <a:r>
              <a:rPr lang="en-US" sz="1250" dirty="0">
                <a:solidFill>
                  <a:srgbClr val="5A6B8C"/>
                </a:solidFill>
                <a:latin typeface="Calibri" pitchFamily="34" charset="0"/>
                <a:ea typeface="Calibri" pitchFamily="34" charset="-122"/>
                <a:cs typeface="Calibri" pitchFamily="34" charset="-120"/>
              </a:rPr>
              <a:t>Benchmarked against equal-weight buy-and-hold of the same 528 instruments, not a flattering index</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200" b="1" spc="200" kern="0" dirty="0">
                <a:solidFill>
                  <a:srgbClr val="5A6B8C"/>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Buy-and-hold returned more. We lost less.</a:t>
            </a:r>
            <a:endParaRPr lang="en-US" sz="3400" dirty="0"/>
          </a:p>
        </p:txBody>
      </p:sp>
      <p:sp>
        <p:nvSpPr>
          <p:cNvPr id="4" name="Text 2"/>
          <p:cNvSpPr/>
          <p:nvPr/>
        </p:nvSpPr>
        <p:spPr>
          <a:xfrm>
            <a:off x="640080" y="1463040"/>
            <a:ext cx="10881360" cy="320040"/>
          </a:xfrm>
          <a:prstGeom prst="rect">
            <a:avLst/>
          </a:prstGeom>
          <a:noFill/>
          <a:ln/>
        </p:spPr>
        <p:txBody>
          <a:bodyPr wrap="square" lIns="0" tIns="0" rIns="0" bIns="0" rtlCol="0" anchor="ctr"/>
          <a:lstStyle/>
          <a:p>
            <a:pPr indent="0" marL="0">
              <a:buNone/>
            </a:pPr>
            <a:r>
              <a:rPr lang="en-US" sz="1300" i="1" dirty="0">
                <a:solidFill>
                  <a:srgbClr val="C8871B"/>
                </a:solidFill>
                <a:latin typeface="Calibri" pitchFamily="34" charset="0"/>
                <a:ea typeface="Calibri" pitchFamily="34" charset="-122"/>
                <a:cs typeface="Calibri" pitchFamily="34" charset="-120"/>
              </a:rPr>
              <a:t>Stated first because a reader who finds it themselves stops believing everything else.</a:t>
            </a:r>
            <a:endParaRPr lang="en-US" sz="1300" dirty="0"/>
          </a:p>
        </p:txBody>
      </p:sp>
      <p:graphicFrame>
        <p:nvGraphicFramePr>
          <p:cNvPr id="5" name="Chart 0" descr=""/>
          <p:cNvGraphicFramePr/>
          <p:nvPr/>
        </p:nvGraphicFramePr>
        <p:xfrm>
          <a:off x="640080" y="1920240"/>
          <a:ext cx="6858000" cy="38404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772400" y="1920240"/>
            <a:ext cx="3749040" cy="3840480"/>
          </a:xfrm>
          <a:prstGeom prst="roundRect">
            <a:avLst>
              <a:gd name="adj" fmla="val 1463"/>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7" name="Text 4"/>
          <p:cNvSpPr/>
          <p:nvPr/>
        </p:nvSpPr>
        <p:spPr>
          <a:xfrm>
            <a:off x="8046720" y="2121408"/>
            <a:ext cx="320040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The trade being offered</a:t>
            </a:r>
            <a:endParaRPr lang="en-US" sz="1700" dirty="0"/>
          </a:p>
        </p:txBody>
      </p:sp>
      <p:sp>
        <p:nvSpPr>
          <p:cNvPr id="8" name="Text 5"/>
          <p:cNvSpPr/>
          <p:nvPr/>
        </p:nvSpPr>
        <p:spPr>
          <a:xfrm>
            <a:off x="8046720" y="2606040"/>
            <a:ext cx="3200400" cy="914400"/>
          </a:xfrm>
          <a:prstGeom prst="rect">
            <a:avLst/>
          </a:prstGeom>
          <a:noFill/>
          <a:ln/>
        </p:spPr>
        <p:txBody>
          <a:bodyPr wrap="square" lIns="0" tIns="0" rIns="0" bIns="0" rtlCol="0" anchor="ctr"/>
          <a:lstStyle/>
          <a:p>
            <a:pPr indent="0" marL="0">
              <a:buNone/>
            </a:pPr>
            <a:r>
              <a:rPr lang="en-US" sz="3000" b="1" dirty="0">
                <a:solidFill>
                  <a:srgbClr val="A33B32"/>
                </a:solidFill>
                <a:latin typeface="Cambria" pitchFamily="34" charset="0"/>
                <a:ea typeface="Cambria" pitchFamily="34" charset="-122"/>
                <a:cs typeface="Cambria" pitchFamily="34" charset="-120"/>
              </a:rPr>
              <a:t>−3.5</a:t>
            </a:r>
            <a:endParaRPr lang="en-US" sz="3000" dirty="0"/>
          </a:p>
          <a:p>
            <a:pPr indent="0" marL="0">
              <a:buNone/>
            </a:pPr>
            <a:r>
              <a:rPr lang="en-US" sz="1150" dirty="0">
                <a:solidFill>
                  <a:srgbClr val="5A6B8C"/>
                </a:solidFill>
                <a:latin typeface="Cambria" pitchFamily="34" charset="0"/>
                <a:ea typeface="Cambria" pitchFamily="34" charset="-122"/>
                <a:cs typeface="Cambria" pitchFamily="34" charset="-120"/>
              </a:rPr>
              <a:t>points of annual return given up</a:t>
            </a:r>
            <a:endParaRPr lang="en-US" sz="3000" dirty="0"/>
          </a:p>
        </p:txBody>
      </p:sp>
      <p:sp>
        <p:nvSpPr>
          <p:cNvPr id="9" name="Text 6"/>
          <p:cNvSpPr/>
          <p:nvPr/>
        </p:nvSpPr>
        <p:spPr>
          <a:xfrm>
            <a:off x="8046720" y="3611880"/>
            <a:ext cx="3200400" cy="914400"/>
          </a:xfrm>
          <a:prstGeom prst="rect">
            <a:avLst/>
          </a:prstGeom>
          <a:noFill/>
          <a:ln/>
        </p:spPr>
        <p:txBody>
          <a:bodyPr wrap="square" lIns="0" tIns="0" rIns="0" bIns="0" rtlCol="0" anchor="ctr"/>
          <a:lstStyle/>
          <a:p>
            <a:pPr indent="0" marL="0">
              <a:buNone/>
            </a:pPr>
            <a:r>
              <a:rPr lang="en-US" sz="3000" b="1" dirty="0">
                <a:solidFill>
                  <a:srgbClr val="2C7A5A"/>
                </a:solidFill>
                <a:latin typeface="Cambria" pitchFamily="34" charset="0"/>
                <a:ea typeface="Cambria" pitchFamily="34" charset="-122"/>
                <a:cs typeface="Cambria" pitchFamily="34" charset="-120"/>
              </a:rPr>
              <a:t>−15.1</a:t>
            </a:r>
            <a:endParaRPr lang="en-US" sz="3000" dirty="0"/>
          </a:p>
          <a:p>
            <a:pPr indent="0" marL="0">
              <a:buNone/>
            </a:pPr>
            <a:r>
              <a:rPr lang="en-US" sz="1150" dirty="0">
                <a:solidFill>
                  <a:srgbClr val="5A6B8C"/>
                </a:solidFill>
                <a:latin typeface="Cambria" pitchFamily="34" charset="0"/>
                <a:ea typeface="Cambria" pitchFamily="34" charset="-122"/>
                <a:cs typeface="Cambria" pitchFamily="34" charset="-120"/>
              </a:rPr>
              <a:t>points off the worst peak-to-trough fall</a:t>
            </a:r>
            <a:endParaRPr lang="en-US" sz="3000" dirty="0"/>
          </a:p>
        </p:txBody>
      </p:sp>
      <p:sp>
        <p:nvSpPr>
          <p:cNvPr id="10" name="Text 7"/>
          <p:cNvSpPr/>
          <p:nvPr/>
        </p:nvSpPr>
        <p:spPr>
          <a:xfrm>
            <a:off x="8046720" y="4709160"/>
            <a:ext cx="3200400" cy="914400"/>
          </a:xfrm>
          <a:prstGeom prst="rect">
            <a:avLst/>
          </a:prstGeom>
          <a:noFill/>
          <a:ln/>
        </p:spPr>
        <p:txBody>
          <a:bodyPr wrap="square" lIns="0" tIns="0" rIns="0" bIns="0" rtlCol="0" anchor="ctr"/>
          <a:lstStyle/>
          <a:p>
            <a:pPr indent="0" marL="0">
              <a:buNone/>
            </a:pPr>
            <a:r>
              <a:rPr lang="en-US" sz="1150" i="1" dirty="0">
                <a:solidFill>
                  <a:srgbClr val="1E2761"/>
                </a:solidFill>
                <a:latin typeface="Calibri" pitchFamily="34" charset="0"/>
                <a:ea typeface="Calibri" pitchFamily="34" charset="-122"/>
                <a:cs typeface="Calibri" pitchFamily="34" charset="-120"/>
              </a:rPr>
              <a:t>Whether that is a good trade is a preference, not a fact — and it decides which line of the table matters to you.</a:t>
            </a:r>
            <a:endParaRPr lang="en-US" sz="1150" dirty="0"/>
          </a:p>
        </p:txBody>
      </p:sp>
      <p:sp>
        <p:nvSpPr>
          <p:cNvPr id="11" name="Text 8"/>
          <p:cNvSpPr/>
          <p:nvPr/>
        </p:nvSpPr>
        <p:spPr>
          <a:xfrm>
            <a:off x="640080" y="6327648"/>
            <a:ext cx="10881360" cy="292608"/>
          </a:xfrm>
          <a:prstGeom prst="rect">
            <a:avLst/>
          </a:prstGeom>
          <a:noFill/>
          <a:ln/>
        </p:spPr>
        <p:txBody>
          <a:bodyPr wrap="square" lIns="0" tIns="0" rIns="0" bIns="0" rtlCol="0" anchor="ctr"/>
          <a:lstStyle/>
          <a:p>
            <a:pPr indent="0" marL="0">
              <a:buNone/>
            </a:pPr>
            <a:r>
              <a:rPr lang="en-US" sz="950" i="1" dirty="0">
                <a:solidFill>
                  <a:srgbClr val="5A6B8C"/>
                </a:solidFill>
                <a:latin typeface="Calibri" pitchFamily="34" charset="0"/>
                <a:ea typeface="Calibri" pitchFamily="34" charset="-122"/>
                <a:cs typeface="Calibri" pitchFamily="34" charset="-120"/>
              </a:rPr>
              <a:t>Source: reports/share/results-1m.csv · £1,000,000 portfolio · 8.94 years · net of modelled commission and slippage.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200" b="1" spc="200" kern="0" dirty="0">
                <a:solidFill>
                  <a:srgbClr val="5A6B8C"/>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On risk-adjusted measures, the strategies win</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6949440" cy="914400"/>
        </p:xfrm>
        <a:graphic>
          <a:graphicData uri="http://schemas.openxmlformats.org/drawingml/2006/table">
            <a:tbl>
              <a:tblPr/>
              <a:tblGrid>
                <a:gridCol w="2011680"/>
                <a:gridCol w="1645920"/>
                <a:gridCol w="1737360"/>
                <a:gridCol w="1554480"/>
              </a:tblGrid>
              <a:tr h="384048">
                <a:tc>
                  <a:txBody>
                    <a:bodyPr/>
                    <a:lstStyle/>
                    <a:p>
                      <a:pPr algn="l" indent="0" marL="0">
                        <a:buNone/>
                      </a:pPr>
                      <a:endParaRPr lang="en-US" sz="12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Mean Reversion</a:t>
                      </a:r>
                      <a:endParaRPr lang="en-US" sz="12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4-strategy blend</a:t>
                      </a:r>
                      <a:endParaRPr lang="en-US" sz="12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Buy &amp; hold</a:t>
                      </a:r>
                      <a:endParaRPr lang="en-US" sz="12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E2761"/>
                    </a:solidFill>
                  </a:tcPr>
                </a:tc>
              </a:tr>
              <a:tr h="384048">
                <a:tc>
                  <a:txBody>
                    <a:bodyPr/>
                    <a:lstStyle/>
                    <a:p>
                      <a:pPr algn="l" indent="0" marL="0">
                        <a:buNone/>
                      </a:pPr>
                      <a:r>
                        <a:rPr lang="en-US" sz="1300" b="1" dirty="0">
                          <a:solidFill>
                            <a:srgbClr val="1E2761"/>
                          </a:solidFill>
                          <a:latin typeface="Calibri" pitchFamily="34" charset="0"/>
                          <a:ea typeface="Calibri" pitchFamily="34" charset="-122"/>
                          <a:cs typeface="Calibri" pitchFamily="34" charset="-120"/>
                        </a:rPr>
                        <a:t>Annual return</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761"/>
                          </a:solidFill>
                          <a:latin typeface="Calibri" pitchFamily="34" charset="0"/>
                          <a:ea typeface="Calibri" pitchFamily="34" charset="-122"/>
                          <a:cs typeface="Calibri" pitchFamily="34" charset="-120"/>
                        </a:rPr>
                        <a:t>20.18%</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761"/>
                          </a:solidFill>
                          <a:latin typeface="Calibri" pitchFamily="34" charset="0"/>
                          <a:ea typeface="Calibri" pitchFamily="34" charset="-122"/>
                          <a:cs typeface="Calibri" pitchFamily="34" charset="-120"/>
                        </a:rPr>
                        <a:t>19.20%</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A6B8C"/>
                          </a:solidFill>
                          <a:latin typeface="Calibri" pitchFamily="34" charset="0"/>
                          <a:ea typeface="Calibri" pitchFamily="34" charset="-122"/>
                          <a:cs typeface="Calibri" pitchFamily="34" charset="-120"/>
                        </a:rPr>
                        <a:t>23.68%</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1E2761"/>
                          </a:solidFill>
                          <a:latin typeface="Calibri" pitchFamily="34" charset="0"/>
                          <a:ea typeface="Calibri" pitchFamily="34" charset="-122"/>
                          <a:cs typeface="Calibri" pitchFamily="34" charset="-120"/>
                        </a:rPr>
                        <a:t>Max drawdown</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EF2F9"/>
                    </a:solidFill>
                  </a:tcPr>
                </a:tc>
                <a:tc>
                  <a:txBody>
                    <a:bodyPr/>
                    <a:lstStyle/>
                    <a:p>
                      <a:pPr algn="ctr" indent="0" marL="0">
                        <a:buNone/>
                      </a:pPr>
                      <a:r>
                        <a:rPr lang="en-US" sz="1300" dirty="0">
                          <a:solidFill>
                            <a:srgbClr val="1E2761"/>
                          </a:solidFill>
                          <a:latin typeface="Calibri" pitchFamily="34" charset="0"/>
                          <a:ea typeface="Calibri" pitchFamily="34" charset="-122"/>
                          <a:cs typeface="Calibri" pitchFamily="34" charset="-120"/>
                        </a:rPr>
                        <a:t>22.62%</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EF2F9"/>
                    </a:solidFill>
                  </a:tcPr>
                </a:tc>
                <a:tc>
                  <a:txBody>
                    <a:bodyPr/>
                    <a:lstStyle/>
                    <a:p>
                      <a:pPr algn="ctr" indent="0" marL="0">
                        <a:buNone/>
                      </a:pPr>
                      <a:r>
                        <a:rPr lang="en-US" sz="1300" dirty="0">
                          <a:solidFill>
                            <a:srgbClr val="1E2761"/>
                          </a:solidFill>
                          <a:latin typeface="Calibri" pitchFamily="34" charset="0"/>
                          <a:ea typeface="Calibri" pitchFamily="34" charset="-122"/>
                          <a:cs typeface="Calibri" pitchFamily="34" charset="-120"/>
                        </a:rPr>
                        <a:t>23.67%</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EF2F9"/>
                    </a:solidFill>
                  </a:tcPr>
                </a:tc>
                <a:tc>
                  <a:txBody>
                    <a:bodyPr/>
                    <a:lstStyle/>
                    <a:p>
                      <a:pPr algn="ctr" indent="0" marL="0">
                        <a:buNone/>
                      </a:pPr>
                      <a:r>
                        <a:rPr lang="en-US" sz="1300" dirty="0">
                          <a:solidFill>
                            <a:srgbClr val="5A6B8C"/>
                          </a:solidFill>
                          <a:latin typeface="Calibri" pitchFamily="34" charset="0"/>
                          <a:ea typeface="Calibri" pitchFamily="34" charset="-122"/>
                          <a:cs typeface="Calibri" pitchFamily="34" charset="-120"/>
                        </a:rPr>
                        <a:t>37.76%</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EF2F9"/>
                    </a:solidFill>
                  </a:tcPr>
                </a:tc>
              </a:tr>
              <a:tr h="384048">
                <a:tc>
                  <a:txBody>
                    <a:bodyPr/>
                    <a:lstStyle/>
                    <a:p>
                      <a:pPr algn="l" indent="0" marL="0">
                        <a:buNone/>
                      </a:pPr>
                      <a:r>
                        <a:rPr lang="en-US" sz="1300" b="1" dirty="0">
                          <a:solidFill>
                            <a:srgbClr val="1E2761"/>
                          </a:solidFill>
                          <a:latin typeface="Calibri" pitchFamily="34" charset="0"/>
                          <a:ea typeface="Calibri" pitchFamily="34" charset="-122"/>
                          <a:cs typeface="Calibri" pitchFamily="34" charset="-120"/>
                        </a:rPr>
                        <a:t>Sharpe</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761"/>
                          </a:solidFill>
                          <a:latin typeface="Calibri" pitchFamily="34" charset="0"/>
                          <a:ea typeface="Calibri" pitchFamily="34" charset="-122"/>
                          <a:cs typeface="Calibri" pitchFamily="34" charset="-120"/>
                        </a:rPr>
                        <a:t>1.30</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761"/>
                          </a:solidFill>
                          <a:latin typeface="Calibri" pitchFamily="34" charset="0"/>
                          <a:ea typeface="Calibri" pitchFamily="34" charset="-122"/>
                          <a:cs typeface="Calibri" pitchFamily="34" charset="-120"/>
                        </a:rPr>
                        <a:t>1.12</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A6B8C"/>
                          </a:solidFill>
                          <a:latin typeface="Calibri" pitchFamily="34" charset="0"/>
                          <a:ea typeface="Calibri" pitchFamily="34" charset="-122"/>
                          <a:cs typeface="Calibri" pitchFamily="34" charset="-120"/>
                        </a:rPr>
                        <a:t>1.03</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1E2761"/>
                          </a:solidFill>
                          <a:latin typeface="Calibri" pitchFamily="34" charset="0"/>
                          <a:ea typeface="Calibri" pitchFamily="34" charset="-122"/>
                          <a:cs typeface="Calibri" pitchFamily="34" charset="-120"/>
                        </a:rPr>
                        <a:t>Sortino</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EF2F9"/>
                    </a:solidFill>
                  </a:tcPr>
                </a:tc>
                <a:tc>
                  <a:txBody>
                    <a:bodyPr/>
                    <a:lstStyle/>
                    <a:p>
                      <a:pPr algn="ctr" indent="0" marL="0">
                        <a:buNone/>
                      </a:pPr>
                      <a:r>
                        <a:rPr lang="en-US" sz="1300" dirty="0">
                          <a:solidFill>
                            <a:srgbClr val="1E2761"/>
                          </a:solidFill>
                          <a:latin typeface="Calibri" pitchFamily="34" charset="0"/>
                          <a:ea typeface="Calibri" pitchFamily="34" charset="-122"/>
                          <a:cs typeface="Calibri" pitchFamily="34" charset="-120"/>
                        </a:rPr>
                        <a:t>1.96</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EF2F9"/>
                    </a:solidFill>
                  </a:tcPr>
                </a:tc>
                <a:tc>
                  <a:txBody>
                    <a:bodyPr/>
                    <a:lstStyle/>
                    <a:p>
                      <a:pPr algn="ctr" indent="0" marL="0">
                        <a:buNone/>
                      </a:pPr>
                      <a:r>
                        <a:rPr lang="en-US" sz="1300" dirty="0">
                          <a:solidFill>
                            <a:srgbClr val="1E2761"/>
                          </a:solidFill>
                          <a:latin typeface="Calibri" pitchFamily="34" charset="0"/>
                          <a:ea typeface="Calibri" pitchFamily="34" charset="-122"/>
                          <a:cs typeface="Calibri" pitchFamily="34" charset="-120"/>
                        </a:rPr>
                        <a:t>1.64</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EF2F9"/>
                    </a:solidFill>
                  </a:tcPr>
                </a:tc>
                <a:tc>
                  <a:txBody>
                    <a:bodyPr/>
                    <a:lstStyle/>
                    <a:p>
                      <a:pPr algn="ctr" indent="0" marL="0">
                        <a:buNone/>
                      </a:pPr>
                      <a:r>
                        <a:rPr lang="en-US" sz="1300" dirty="0">
                          <a:solidFill>
                            <a:srgbClr val="5A6B8C"/>
                          </a:solidFill>
                          <a:latin typeface="Calibri" pitchFamily="34" charset="0"/>
                          <a:ea typeface="Calibri" pitchFamily="34" charset="-122"/>
                          <a:cs typeface="Calibri" pitchFamily="34" charset="-120"/>
                        </a:rPr>
                        <a:t>1.46</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EF2F9"/>
                    </a:solidFill>
                  </a:tcPr>
                </a:tc>
              </a:tr>
              <a:tr h="384048">
                <a:tc>
                  <a:txBody>
                    <a:bodyPr/>
                    <a:lstStyle/>
                    <a:p>
                      <a:pPr algn="l" indent="0" marL="0">
                        <a:buNone/>
                      </a:pPr>
                      <a:r>
                        <a:rPr lang="en-US" sz="1300" b="1" dirty="0">
                          <a:solidFill>
                            <a:srgbClr val="1E2761"/>
                          </a:solidFill>
                          <a:latin typeface="Calibri" pitchFamily="34" charset="0"/>
                          <a:ea typeface="Calibri" pitchFamily="34" charset="-122"/>
                          <a:cs typeface="Calibri" pitchFamily="34" charset="-120"/>
                        </a:rPr>
                        <a:t>Calmar</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761"/>
                          </a:solidFill>
                          <a:latin typeface="Calibri" pitchFamily="34" charset="0"/>
                          <a:ea typeface="Calibri" pitchFamily="34" charset="-122"/>
                          <a:cs typeface="Calibri" pitchFamily="34" charset="-120"/>
                        </a:rPr>
                        <a:t>0.89</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761"/>
                          </a:solidFill>
                          <a:latin typeface="Calibri" pitchFamily="34" charset="0"/>
                          <a:ea typeface="Calibri" pitchFamily="34" charset="-122"/>
                          <a:cs typeface="Calibri" pitchFamily="34" charset="-120"/>
                        </a:rPr>
                        <a:t>0.81</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A6B8C"/>
                          </a:solidFill>
                          <a:latin typeface="Calibri" pitchFamily="34" charset="0"/>
                          <a:ea typeface="Calibri" pitchFamily="34" charset="-122"/>
                          <a:cs typeface="Calibri" pitchFamily="34" charset="-120"/>
                        </a:rPr>
                        <a:t>0.63</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1E2761"/>
                          </a:solidFill>
                          <a:latin typeface="Calibri" pitchFamily="34" charset="0"/>
                          <a:ea typeface="Calibri" pitchFamily="34" charset="-122"/>
                          <a:cs typeface="Calibri" pitchFamily="34" charset="-120"/>
                        </a:rPr>
                        <a:t>Trades</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EF2F9"/>
                    </a:solidFill>
                  </a:tcPr>
                </a:tc>
                <a:tc>
                  <a:txBody>
                    <a:bodyPr/>
                    <a:lstStyle/>
                    <a:p>
                      <a:pPr algn="ctr" indent="0" marL="0">
                        <a:buNone/>
                      </a:pPr>
                      <a:r>
                        <a:rPr lang="en-US" sz="1300" dirty="0">
                          <a:solidFill>
                            <a:srgbClr val="1E2761"/>
                          </a:solidFill>
                          <a:latin typeface="Calibri" pitchFamily="34" charset="0"/>
                          <a:ea typeface="Calibri" pitchFamily="34" charset="-122"/>
                          <a:cs typeface="Calibri" pitchFamily="34" charset="-120"/>
                        </a:rPr>
                        <a:t>386</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EF2F9"/>
                    </a:solidFill>
                  </a:tcPr>
                </a:tc>
                <a:tc>
                  <a:txBody>
                    <a:bodyPr/>
                    <a:lstStyle/>
                    <a:p>
                      <a:pPr algn="ctr" indent="0" marL="0">
                        <a:buNone/>
                      </a:pPr>
                      <a:r>
                        <a:rPr lang="en-US" sz="1300" dirty="0">
                          <a:solidFill>
                            <a:srgbClr val="1E2761"/>
                          </a:solidFill>
                          <a:latin typeface="Calibri" pitchFamily="34" charset="0"/>
                          <a:ea typeface="Calibri" pitchFamily="34" charset="-122"/>
                          <a:cs typeface="Calibri" pitchFamily="34" charset="-120"/>
                        </a:rPr>
                        <a:t>581</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EF2F9"/>
                    </a:solidFill>
                  </a:tcPr>
                </a:tc>
                <a:tc>
                  <a:txBody>
                    <a:bodyPr/>
                    <a:lstStyle/>
                    <a:p>
                      <a:pPr algn="ctr" indent="0" marL="0">
                        <a:buNone/>
                      </a:pPr>
                      <a:r>
                        <a:rPr lang="en-US" sz="1300" dirty="0">
                          <a:solidFill>
                            <a:srgbClr val="5A6B8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76200" marB="7620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EF2F9"/>
                    </a:solidFill>
                  </a:tcPr>
                </a:tc>
              </a:tr>
            </a:tbl>
          </a:graphicData>
        </a:graphic>
      </p:graphicFrame>
      <p:sp>
        <p:nvSpPr>
          <p:cNvPr id="5" name="Shape 2"/>
          <p:cNvSpPr/>
          <p:nvPr/>
        </p:nvSpPr>
        <p:spPr>
          <a:xfrm>
            <a:off x="7818120" y="1828800"/>
            <a:ext cx="3703320" cy="2788920"/>
          </a:xfrm>
          <a:prstGeom prst="roundRect">
            <a:avLst>
              <a:gd name="adj" fmla="val 1967"/>
            </a:avLst>
          </a:prstGeom>
          <a:solidFill>
            <a:srgbClr val="FFF8EC"/>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6" name="Text 3"/>
          <p:cNvSpPr/>
          <p:nvPr/>
        </p:nvSpPr>
        <p:spPr>
          <a:xfrm>
            <a:off x="8092440" y="2029968"/>
            <a:ext cx="3154680" cy="365760"/>
          </a:xfrm>
          <a:prstGeom prst="rect">
            <a:avLst/>
          </a:prstGeom>
          <a:noFill/>
          <a:ln/>
        </p:spPr>
        <p:txBody>
          <a:bodyPr wrap="square" lIns="0" tIns="0" rIns="0" bIns="0" rtlCol="0" anchor="ctr"/>
          <a:lstStyle/>
          <a:p>
            <a:pPr indent="0" marL="0">
              <a:buNone/>
            </a:pPr>
            <a:r>
              <a:rPr lang="en-US" sz="1600" b="1" dirty="0">
                <a:solidFill>
                  <a:srgbClr val="C8871B"/>
                </a:solidFill>
                <a:latin typeface="Cambria" pitchFamily="34" charset="0"/>
                <a:ea typeface="Cambria" pitchFamily="34" charset="-122"/>
                <a:cs typeface="Cambria" pitchFamily="34" charset="-120"/>
              </a:rPr>
              <a:t>The objection we agree with</a:t>
            </a:r>
            <a:endParaRPr lang="en-US" sz="1600" dirty="0"/>
          </a:p>
        </p:txBody>
      </p:sp>
      <p:sp>
        <p:nvSpPr>
          <p:cNvPr id="7" name="Text 4"/>
          <p:cNvSpPr/>
          <p:nvPr/>
        </p:nvSpPr>
        <p:spPr>
          <a:xfrm>
            <a:off x="8092440" y="2450592"/>
            <a:ext cx="3154680" cy="2011680"/>
          </a:xfrm>
          <a:prstGeom prst="rect">
            <a:avLst/>
          </a:prstGeom>
          <a:noFill/>
          <a:ln/>
        </p:spPr>
        <p:txBody>
          <a:bodyPr wrap="square" lIns="0" tIns="0" rIns="0" bIns="0" rtlCol="0" anchor="ctr"/>
          <a:lstStyle/>
          <a:p>
            <a:pPr indent="0" marL="0">
              <a:buNone/>
            </a:pPr>
            <a:r>
              <a:rPr lang="en-US" sz="1150" dirty="0">
                <a:solidFill>
                  <a:srgbClr val="1E2761"/>
                </a:solidFill>
                <a:latin typeface="Calibri" pitchFamily="34" charset="0"/>
                <a:ea typeface="Calibri" pitchFamily="34" charset="-122"/>
                <a:cs typeface="Calibri" pitchFamily="34" charset="-120"/>
              </a:rPr>
              <a:t>Mean Reversion buys three-year laggards, over a decade in which beaten-down names came roaring back — precisely the trade it is built to make. 386 trades in one favourable regime is a hypothesis with supporting evidence, not an established edge.</a:t>
            </a:r>
            <a:endParaRPr lang="en-US" sz="1150" dirty="0"/>
          </a:p>
        </p:txBody>
      </p:sp>
      <p:sp>
        <p:nvSpPr>
          <p:cNvPr id="8" name="Shape 5"/>
          <p:cNvSpPr/>
          <p:nvPr/>
        </p:nvSpPr>
        <p:spPr>
          <a:xfrm>
            <a:off x="7818120" y="4800600"/>
            <a:ext cx="3703320" cy="1234440"/>
          </a:xfrm>
          <a:prstGeom prst="roundRect">
            <a:avLst>
              <a:gd name="adj" fmla="val 4444"/>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9" name="Text 6"/>
          <p:cNvSpPr/>
          <p:nvPr/>
        </p:nvSpPr>
        <p:spPr>
          <a:xfrm>
            <a:off x="8092440" y="4956048"/>
            <a:ext cx="315468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Fewer strategies beat more</a:t>
            </a:r>
            <a:endParaRPr lang="en-US" sz="1500" dirty="0"/>
          </a:p>
        </p:txBody>
      </p:sp>
      <p:sp>
        <p:nvSpPr>
          <p:cNvPr id="10" name="Text 7"/>
          <p:cNvSpPr/>
          <p:nvPr/>
        </p:nvSpPr>
        <p:spPr>
          <a:xfrm>
            <a:off x="8092440" y="5285232"/>
            <a:ext cx="3154680" cy="685800"/>
          </a:xfrm>
          <a:prstGeom prst="rect">
            <a:avLst/>
          </a:prstGeom>
          <a:noFill/>
          <a:ln/>
        </p:spPr>
        <p:txBody>
          <a:bodyPr wrap="square" lIns="0" tIns="0" rIns="0" bIns="0" rtlCol="0" anchor="ctr"/>
          <a:lstStyle/>
          <a:p>
            <a:pPr indent="0" marL="0">
              <a:buNone/>
            </a:pPr>
            <a:r>
              <a:rPr lang="en-US" sz="1100" dirty="0">
                <a:solidFill>
                  <a:srgbClr val="5A6B8C"/>
                </a:solidFill>
                <a:latin typeface="Calibri" pitchFamily="34" charset="0"/>
                <a:ea typeface="Calibri" pitchFamily="34" charset="-122"/>
                <a:cs typeface="Calibri" pitchFamily="34" charset="-120"/>
              </a:rPr>
              <a:t>All twelve run together drew down 40.31%. Four decorrelated ones: 23.67%, for the same return.</a:t>
            </a:r>
            <a:endParaRPr lang="en-US" sz="1100" dirty="0"/>
          </a:p>
        </p:txBody>
      </p:sp>
      <p:sp>
        <p:nvSpPr>
          <p:cNvPr id="11" name="Text 8"/>
          <p:cNvSpPr/>
          <p:nvPr/>
        </p:nvSpPr>
        <p:spPr>
          <a:xfrm>
            <a:off x="640080" y="6327648"/>
            <a:ext cx="10881360" cy="292608"/>
          </a:xfrm>
          <a:prstGeom prst="rect">
            <a:avLst/>
          </a:prstGeom>
          <a:noFill/>
          <a:ln/>
        </p:spPr>
        <p:txBody>
          <a:bodyPr wrap="square" lIns="0" tIns="0" rIns="0" bIns="0" rtlCol="0" anchor="ctr"/>
          <a:lstStyle/>
          <a:p>
            <a:pPr indent="0" marL="0">
              <a:buNone/>
            </a:pPr>
            <a:r>
              <a:rPr lang="en-US" sz="950" i="1" dirty="0">
                <a:solidFill>
                  <a:srgbClr val="5A6B8C"/>
                </a:solidFill>
                <a:latin typeface="Calibri" pitchFamily="34" charset="0"/>
                <a:ea typeface="Calibri" pitchFamily="34" charset="-122"/>
                <a:cs typeface="Calibri" pitchFamily="34" charset="-120"/>
              </a:rPr>
              <a:t>Sharpe, Sortino and Calmar are risk-adjusted return measures — higher is better. Source: reports/share/results-1m.csv.</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200" b="1" spc="200" kern="0" dirty="0">
                <a:solidFill>
                  <a:srgbClr val="5A6B8C"/>
                </a:solidFill>
                <a:latin typeface="Calibri" pitchFamily="34" charset="0"/>
                <a:ea typeface="Calibri" pitchFamily="34" charset="-122"/>
                <a:cs typeface="Calibri" pitchFamily="34" charset="-120"/>
              </a:rPr>
              <a:t>LIMITATIONS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What this evidence cannot yet support</a:t>
            </a:r>
            <a:endParaRPr lang="en-US" sz="3400" dirty="0"/>
          </a:p>
        </p:txBody>
      </p:sp>
      <p:sp>
        <p:nvSpPr>
          <p:cNvPr id="4" name="Text 2"/>
          <p:cNvSpPr/>
          <p:nvPr/>
        </p:nvSpPr>
        <p:spPr>
          <a:xfrm>
            <a:off x="640080" y="1463040"/>
            <a:ext cx="10881360" cy="320040"/>
          </a:xfrm>
          <a:prstGeom prst="rect">
            <a:avLst/>
          </a:prstGeom>
          <a:noFill/>
          <a:ln/>
        </p:spPr>
        <p:txBody>
          <a:bodyPr wrap="square" lIns="0" tIns="0" rIns="0" bIns="0" rtlCol="0" anchor="ctr"/>
          <a:lstStyle/>
          <a:p>
            <a:pPr indent="0" marL="0">
              <a:buNone/>
            </a:pPr>
            <a:r>
              <a:rPr lang="en-US" sz="1300" i="1" dirty="0">
                <a:solidFill>
                  <a:srgbClr val="5A6B8C"/>
                </a:solidFill>
                <a:latin typeface="Calibri" pitchFamily="34" charset="0"/>
                <a:ea typeface="Calibri" pitchFamily="34" charset="-122"/>
                <a:cs typeface="Calibri" pitchFamily="34" charset="-120"/>
              </a:rPr>
              <a:t>Every one of these is in our own published research. None was found by a reviewer.</a:t>
            </a:r>
            <a:endParaRPr lang="en-US" sz="1300" dirty="0"/>
          </a:p>
        </p:txBody>
      </p:sp>
      <p:sp>
        <p:nvSpPr>
          <p:cNvPr id="5" name="Shape 3"/>
          <p:cNvSpPr/>
          <p:nvPr/>
        </p:nvSpPr>
        <p:spPr>
          <a:xfrm>
            <a:off x="640080" y="1938528"/>
            <a:ext cx="10881360" cy="1097280"/>
          </a:xfrm>
          <a:prstGeom prst="roundRect">
            <a:avLst>
              <a:gd name="adj" fmla="val 5000"/>
            </a:avLst>
          </a:prstGeom>
          <a:solidFill>
            <a:srgbClr val="FFF8EC"/>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6" name="Shape 4"/>
          <p:cNvSpPr/>
          <p:nvPr/>
        </p:nvSpPr>
        <p:spPr>
          <a:xfrm>
            <a:off x="914400" y="2267712"/>
            <a:ext cx="420624" cy="420624"/>
          </a:xfrm>
          <a:prstGeom prst="ellipse">
            <a:avLst/>
          </a:prstGeom>
          <a:solidFill>
            <a:srgbClr val="C8871B"/>
          </a:solidFill>
          <a:ln w="12700">
            <a:solidFill>
              <a:srgbClr val="C8871B"/>
            </a:solidFill>
            <a:prstDash val="solid"/>
          </a:ln>
        </p:spPr>
      </p:sp>
      <p:sp>
        <p:nvSpPr>
          <p:cNvPr id="7" name="Text 5"/>
          <p:cNvSpPr/>
          <p:nvPr/>
        </p:nvSpPr>
        <p:spPr>
          <a:xfrm>
            <a:off x="914400" y="226771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517904" y="2084832"/>
            <a:ext cx="9601200" cy="292608"/>
          </a:xfrm>
          <a:prstGeom prst="rect">
            <a:avLst/>
          </a:prstGeom>
          <a:noFill/>
          <a:ln/>
        </p:spPr>
        <p:txBody>
          <a:bodyPr wrap="square" lIns="0" tIns="0" rIns="0" bIns="0" rtlCol="0" anchor="ctr"/>
          <a:lstStyle/>
          <a:p>
            <a:pPr indent="0" marL="0">
              <a:buNone/>
            </a:pPr>
            <a:r>
              <a:rPr lang="en-US" sz="1400" b="1" dirty="0">
                <a:solidFill>
                  <a:srgbClr val="C8871B"/>
                </a:solidFill>
                <a:latin typeface="Calibri" pitchFamily="34" charset="0"/>
                <a:ea typeface="Calibri" pitchFamily="34" charset="-122"/>
                <a:cs typeface="Calibri" pitchFamily="34" charset="-120"/>
              </a:rPr>
              <a:t>The out-of-sample test did not work</a:t>
            </a:r>
            <a:endParaRPr lang="en-US" sz="1400" dirty="0"/>
          </a:p>
        </p:txBody>
      </p:sp>
      <p:sp>
        <p:nvSpPr>
          <p:cNvPr id="9" name="Text 7"/>
          <p:cNvSpPr/>
          <p:nvPr/>
        </p:nvSpPr>
        <p:spPr>
          <a:xfrm>
            <a:off x="1517904" y="2395728"/>
            <a:ext cx="9692640" cy="585216"/>
          </a:xfrm>
          <a:prstGeom prst="rect">
            <a:avLst/>
          </a:prstGeom>
          <a:noFill/>
          <a:ln/>
        </p:spPr>
        <p:txBody>
          <a:bodyPr wrap="square" lIns="0" tIns="0" rIns="0" bIns="0" rtlCol="0" anchor="ctr"/>
          <a:lstStyle/>
          <a:p>
            <a:pPr indent="0" marL="0">
              <a:buNone/>
            </a:pPr>
            <a:r>
              <a:rPr lang="en-US" sz="1100" dirty="0">
                <a:solidFill>
                  <a:srgbClr val="5A6B8C"/>
                </a:solidFill>
                <a:latin typeface="Calibri" pitchFamily="34" charset="0"/>
                <a:ea typeface="Calibri" pitchFamily="34" charset="-122"/>
                <a:cs typeface="Calibri" pitchFamily="34" charset="-120"/>
              </a:rPr>
              <a:t>Every strategy scored better out-of-sample than in-sample — backwards. The split lands near the 2022 bottom, so it is a regime split wearing an out-of-sample label. No strategy has yet met a period where its style was out of favour. This is the single biggest weakness.</a:t>
            </a:r>
            <a:endParaRPr lang="en-US" sz="1100" dirty="0"/>
          </a:p>
        </p:txBody>
      </p:sp>
      <p:sp>
        <p:nvSpPr>
          <p:cNvPr id="10" name="Shape 8"/>
          <p:cNvSpPr/>
          <p:nvPr/>
        </p:nvSpPr>
        <p:spPr>
          <a:xfrm>
            <a:off x="640080" y="3163824"/>
            <a:ext cx="10881360" cy="749808"/>
          </a:xfrm>
          <a:prstGeom prst="roundRect">
            <a:avLst>
              <a:gd name="adj" fmla="val 7317"/>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11" name="Shape 9"/>
          <p:cNvSpPr/>
          <p:nvPr/>
        </p:nvSpPr>
        <p:spPr>
          <a:xfrm>
            <a:off x="914400" y="3328416"/>
            <a:ext cx="420624" cy="420624"/>
          </a:xfrm>
          <a:prstGeom prst="ellipse">
            <a:avLst/>
          </a:prstGeom>
          <a:solidFill>
            <a:srgbClr val="1E2761"/>
          </a:solidFill>
          <a:ln w="12700">
            <a:solidFill>
              <a:srgbClr val="1E2761"/>
            </a:solidFill>
            <a:prstDash val="solid"/>
          </a:ln>
        </p:spPr>
      </p:sp>
      <p:sp>
        <p:nvSpPr>
          <p:cNvPr id="12" name="Text 10"/>
          <p:cNvSpPr/>
          <p:nvPr/>
        </p:nvSpPr>
        <p:spPr>
          <a:xfrm>
            <a:off x="914400" y="332841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517904" y="3255264"/>
            <a:ext cx="960120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Survivorship bias</a:t>
            </a:r>
            <a:endParaRPr lang="en-US" sz="1400" dirty="0"/>
          </a:p>
        </p:txBody>
      </p:sp>
      <p:sp>
        <p:nvSpPr>
          <p:cNvPr id="14" name="Text 12"/>
          <p:cNvSpPr/>
          <p:nvPr/>
        </p:nvSpPr>
        <p:spPr>
          <a:xfrm>
            <a:off x="1517904" y="3511296"/>
            <a:ext cx="9692640" cy="365760"/>
          </a:xfrm>
          <a:prstGeom prst="rect">
            <a:avLst/>
          </a:prstGeom>
          <a:noFill/>
          <a:ln/>
        </p:spPr>
        <p:txBody>
          <a:bodyPr wrap="square" lIns="0" tIns="0" rIns="0" bIns="0" rtlCol="0" anchor="ctr"/>
          <a:lstStyle/>
          <a:p>
            <a:pPr indent="0" marL="0">
              <a:buNone/>
            </a:pPr>
            <a:r>
              <a:rPr lang="en-US" sz="1100" dirty="0">
                <a:solidFill>
                  <a:srgbClr val="5A6B8C"/>
                </a:solidFill>
                <a:latin typeface="Calibri" pitchFamily="34" charset="0"/>
                <a:ea typeface="Calibri" pitchFamily="34" charset="-122"/>
                <a:cs typeface="Calibri" pitchFamily="34" charset="-120"/>
              </a:rPr>
              <a:t>Only instruments that still exist can be tested. This flatters every row — including buy-and-hold.</a:t>
            </a:r>
            <a:endParaRPr lang="en-US" sz="1100" dirty="0"/>
          </a:p>
        </p:txBody>
      </p:sp>
      <p:sp>
        <p:nvSpPr>
          <p:cNvPr id="15" name="Shape 13"/>
          <p:cNvSpPr/>
          <p:nvPr/>
        </p:nvSpPr>
        <p:spPr>
          <a:xfrm>
            <a:off x="640080" y="4041648"/>
            <a:ext cx="10881360" cy="749808"/>
          </a:xfrm>
          <a:prstGeom prst="roundRect">
            <a:avLst>
              <a:gd name="adj" fmla="val 7317"/>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16" name="Shape 14"/>
          <p:cNvSpPr/>
          <p:nvPr/>
        </p:nvSpPr>
        <p:spPr>
          <a:xfrm>
            <a:off x="914400" y="4206240"/>
            <a:ext cx="420624" cy="420624"/>
          </a:xfrm>
          <a:prstGeom prst="ellipse">
            <a:avLst/>
          </a:prstGeom>
          <a:solidFill>
            <a:srgbClr val="1E2761"/>
          </a:solidFill>
          <a:ln w="12700">
            <a:solidFill>
              <a:srgbClr val="1E2761"/>
            </a:solidFill>
            <a:prstDash val="solid"/>
          </a:ln>
        </p:spPr>
      </p:sp>
      <p:sp>
        <p:nvSpPr>
          <p:cNvPr id="17" name="Text 15"/>
          <p:cNvSpPr/>
          <p:nvPr/>
        </p:nvSpPr>
        <p:spPr>
          <a:xfrm>
            <a:off x="914400" y="42062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1517904" y="4133088"/>
            <a:ext cx="960120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Futures are mis-sized</a:t>
            </a:r>
            <a:endParaRPr lang="en-US" sz="1400" dirty="0"/>
          </a:p>
        </p:txBody>
      </p:sp>
      <p:sp>
        <p:nvSpPr>
          <p:cNvPr id="19" name="Text 17"/>
          <p:cNvSpPr/>
          <p:nvPr/>
        </p:nvSpPr>
        <p:spPr>
          <a:xfrm>
            <a:off x="1517904" y="4389120"/>
            <a:ext cx="9692640" cy="365760"/>
          </a:xfrm>
          <a:prstGeom prst="rect">
            <a:avLst/>
          </a:prstGeom>
          <a:noFill/>
          <a:ln/>
        </p:spPr>
        <p:txBody>
          <a:bodyPr wrap="square" lIns="0" tIns="0" rIns="0" bIns="0" rtlCol="0" anchor="ctr"/>
          <a:lstStyle/>
          <a:p>
            <a:pPr indent="0" marL="0">
              <a:buNone/>
            </a:pPr>
            <a:r>
              <a:rPr lang="en-US" sz="1100" dirty="0">
                <a:solidFill>
                  <a:srgbClr val="5A6B8C"/>
                </a:solidFill>
                <a:latin typeface="Calibri" pitchFamily="34" charset="0"/>
                <a:ea typeface="Calibri" pitchFamily="34" charset="-122"/>
                <a:cs typeface="Calibri" pitchFamily="34" charset="-120"/>
              </a:rPr>
              <a:t>All 20 are modelled at full notional, with no margin or contract multiplier. Return and risk are both understated.</a:t>
            </a:r>
            <a:endParaRPr lang="en-US" sz="1100" dirty="0"/>
          </a:p>
        </p:txBody>
      </p:sp>
      <p:sp>
        <p:nvSpPr>
          <p:cNvPr id="20" name="Shape 18"/>
          <p:cNvSpPr/>
          <p:nvPr/>
        </p:nvSpPr>
        <p:spPr>
          <a:xfrm>
            <a:off x="640080" y="4919472"/>
            <a:ext cx="10881360" cy="749808"/>
          </a:xfrm>
          <a:prstGeom prst="roundRect">
            <a:avLst>
              <a:gd name="adj" fmla="val 7317"/>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21" name="Shape 19"/>
          <p:cNvSpPr/>
          <p:nvPr/>
        </p:nvSpPr>
        <p:spPr>
          <a:xfrm>
            <a:off x="914400" y="5084064"/>
            <a:ext cx="420624" cy="420624"/>
          </a:xfrm>
          <a:prstGeom prst="ellipse">
            <a:avLst/>
          </a:prstGeom>
          <a:solidFill>
            <a:srgbClr val="1E2761"/>
          </a:solidFill>
          <a:ln w="12700">
            <a:solidFill>
              <a:srgbClr val="1E2761"/>
            </a:solidFill>
            <a:prstDash val="solid"/>
          </a:ln>
        </p:spPr>
      </p:sp>
      <p:sp>
        <p:nvSpPr>
          <p:cNvPr id="22" name="Text 20"/>
          <p:cNvSpPr/>
          <p:nvPr/>
        </p:nvSpPr>
        <p:spPr>
          <a:xfrm>
            <a:off x="914400" y="508406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1517904" y="5010912"/>
            <a:ext cx="960120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One market, one decade</a:t>
            </a:r>
            <a:endParaRPr lang="en-US" sz="1400" dirty="0"/>
          </a:p>
        </p:txBody>
      </p:sp>
      <p:sp>
        <p:nvSpPr>
          <p:cNvPr id="24" name="Text 22"/>
          <p:cNvSpPr/>
          <p:nvPr/>
        </p:nvSpPr>
        <p:spPr>
          <a:xfrm>
            <a:off x="1517904" y="5266944"/>
            <a:ext cx="9692640" cy="365760"/>
          </a:xfrm>
          <a:prstGeom prst="rect">
            <a:avLst/>
          </a:prstGeom>
          <a:noFill/>
          <a:ln/>
        </p:spPr>
        <p:txBody>
          <a:bodyPr wrap="square" lIns="0" tIns="0" rIns="0" bIns="0" rtlCol="0" anchor="ctr"/>
          <a:lstStyle/>
          <a:p>
            <a:pPr indent="0" marL="0">
              <a:buNone/>
            </a:pPr>
            <a:r>
              <a:rPr lang="en-US" sz="1100" dirty="0">
                <a:solidFill>
                  <a:srgbClr val="5A6B8C"/>
                </a:solidFill>
                <a:latin typeface="Calibri" pitchFamily="34" charset="0"/>
                <a:ea typeface="Calibri" pitchFamily="34" charset="-122"/>
                <a:cs typeface="Calibri" pitchFamily="34" charset="-120"/>
              </a:rPr>
              <a:t>US-listed instruments across roughly 2016–2026 — one of the strongest bull runs on record.</a:t>
            </a:r>
            <a:endParaRPr lang="en-US" sz="1100" dirty="0"/>
          </a:p>
        </p:txBody>
      </p:sp>
      <p:sp>
        <p:nvSpPr>
          <p:cNvPr id="25" name="Shape 23"/>
          <p:cNvSpPr/>
          <p:nvPr/>
        </p:nvSpPr>
        <p:spPr>
          <a:xfrm>
            <a:off x="640080" y="5797296"/>
            <a:ext cx="10881360" cy="749808"/>
          </a:xfrm>
          <a:prstGeom prst="roundRect">
            <a:avLst>
              <a:gd name="adj" fmla="val 7317"/>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26" name="Shape 24"/>
          <p:cNvSpPr/>
          <p:nvPr/>
        </p:nvSpPr>
        <p:spPr>
          <a:xfrm>
            <a:off x="914400" y="5961888"/>
            <a:ext cx="420624" cy="420624"/>
          </a:xfrm>
          <a:prstGeom prst="ellipse">
            <a:avLst/>
          </a:prstGeom>
          <a:solidFill>
            <a:srgbClr val="C8871B"/>
          </a:solidFill>
          <a:ln w="12700">
            <a:solidFill>
              <a:srgbClr val="C8871B"/>
            </a:solidFill>
            <a:prstDash val="solid"/>
          </a:ln>
        </p:spPr>
      </p:sp>
      <p:sp>
        <p:nvSpPr>
          <p:cNvPr id="27" name="Text 25"/>
          <p:cNvSpPr/>
          <p:nvPr/>
        </p:nvSpPr>
        <p:spPr>
          <a:xfrm>
            <a:off x="914400" y="59618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6"/>
          <p:cNvSpPr/>
          <p:nvPr/>
        </p:nvSpPr>
        <p:spPr>
          <a:xfrm>
            <a:off x="1517904" y="5888736"/>
            <a:ext cx="9601200" cy="292608"/>
          </a:xfrm>
          <a:prstGeom prst="rect">
            <a:avLst/>
          </a:prstGeom>
          <a:noFill/>
          <a:ln/>
        </p:spPr>
        <p:txBody>
          <a:bodyPr wrap="square" lIns="0" tIns="0" rIns="0" bIns="0" rtlCol="0" anchor="ctr"/>
          <a:lstStyle/>
          <a:p>
            <a:pPr indent="0" marL="0">
              <a:buNone/>
            </a:pPr>
            <a:r>
              <a:rPr lang="en-US" sz="1400" b="1" dirty="0">
                <a:solidFill>
                  <a:srgbClr val="C8871B"/>
                </a:solidFill>
                <a:latin typeface="Calibri" pitchFamily="34" charset="0"/>
                <a:ea typeface="Calibri" pitchFamily="34" charset="-122"/>
                <a:cs typeface="Calibri" pitchFamily="34" charset="-120"/>
              </a:rPr>
              <a:t>No real-money track record</a:t>
            </a:r>
            <a:endParaRPr lang="en-US" sz="1400" dirty="0"/>
          </a:p>
        </p:txBody>
      </p:sp>
      <p:sp>
        <p:nvSpPr>
          <p:cNvPr id="29" name="Text 27"/>
          <p:cNvSpPr/>
          <p:nvPr/>
        </p:nvSpPr>
        <p:spPr>
          <a:xfrm>
            <a:off x="1517904" y="6144768"/>
            <a:ext cx="9692640" cy="365760"/>
          </a:xfrm>
          <a:prstGeom prst="rect">
            <a:avLst/>
          </a:prstGeom>
          <a:noFill/>
          <a:ln/>
        </p:spPr>
        <p:txBody>
          <a:bodyPr wrap="square" lIns="0" tIns="0" rIns="0" bIns="0" rtlCol="0" anchor="ctr"/>
          <a:lstStyle/>
          <a:p>
            <a:pPr indent="0" marL="0">
              <a:buNone/>
            </a:pPr>
            <a:r>
              <a:rPr lang="en-US" sz="1100" dirty="0">
                <a:solidFill>
                  <a:srgbClr val="5A6B8C"/>
                </a:solidFill>
                <a:latin typeface="Calibri" pitchFamily="34" charset="0"/>
                <a:ea typeface="Calibri" pitchFamily="34" charset="-122"/>
                <a:cs typeface="Calibri" pitchFamily="34" charset="-120"/>
              </a:rPr>
              <a:t>The book is simulated paper trading on a broker paper account. No real-money order has been placed, so forward performance is unproven.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200" b="1" spc="200" kern="0" dirty="0">
                <a:solidFill>
                  <a:srgbClr val="5A6B8C"/>
                </a:solidFill>
                <a:latin typeface="Calibri" pitchFamily="34" charset="0"/>
                <a:ea typeface="Calibri" pitchFamily="34" charset="-122"/>
                <a:cs typeface="Calibri" pitchFamily="34" charset="-120"/>
              </a:rPr>
              <a:t>WHY THIS MATTERS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The asset is the measurement discipline</a:t>
            </a:r>
            <a:endParaRPr lang="en-US" sz="3400" dirty="0"/>
          </a:p>
        </p:txBody>
      </p:sp>
      <p:sp>
        <p:nvSpPr>
          <p:cNvPr id="4" name="Shape 2"/>
          <p:cNvSpPr/>
          <p:nvPr/>
        </p:nvSpPr>
        <p:spPr>
          <a:xfrm>
            <a:off x="640080" y="1828800"/>
            <a:ext cx="5349240" cy="3931920"/>
          </a:xfrm>
          <a:prstGeom prst="roundRect">
            <a:avLst>
              <a:gd name="adj" fmla="val 1395"/>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5" name="Text 3"/>
          <p:cNvSpPr/>
          <p:nvPr/>
        </p:nvSpPr>
        <p:spPr>
          <a:xfrm>
            <a:off x="914400" y="2057400"/>
            <a:ext cx="4754880" cy="384048"/>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Hypotheses this project killed</a:t>
            </a:r>
            <a:endParaRPr lang="en-US" sz="1900" dirty="0"/>
          </a:p>
        </p:txBody>
      </p:sp>
      <p:sp>
        <p:nvSpPr>
          <p:cNvPr id="6" name="Text 4"/>
          <p:cNvSpPr/>
          <p:nvPr/>
        </p:nvSpPr>
        <p:spPr>
          <a:xfrm>
            <a:off x="914400" y="2432304"/>
            <a:ext cx="4754880" cy="274320"/>
          </a:xfrm>
          <a:prstGeom prst="rect">
            <a:avLst/>
          </a:prstGeom>
          <a:noFill/>
          <a:ln/>
        </p:spPr>
        <p:txBody>
          <a:bodyPr wrap="square" lIns="0" tIns="0" rIns="0" bIns="0" rtlCol="0" anchor="ctr"/>
          <a:lstStyle/>
          <a:p>
            <a:pPr indent="0" marL="0">
              <a:buNone/>
            </a:pPr>
            <a:r>
              <a:rPr lang="en-US" sz="1150" i="1" dirty="0">
                <a:solidFill>
                  <a:srgbClr val="5A6B8C"/>
                </a:solidFill>
                <a:latin typeface="Calibri" pitchFamily="34" charset="0"/>
                <a:ea typeface="Calibri" pitchFamily="34" charset="-122"/>
                <a:cs typeface="Calibri" pitchFamily="34" charset="-120"/>
              </a:rPr>
              <a:t>— its own, with its own evidence</a:t>
            </a:r>
            <a:endParaRPr lang="en-US" sz="1150" dirty="0"/>
          </a:p>
        </p:txBody>
      </p:sp>
      <p:sp>
        <p:nvSpPr>
          <p:cNvPr id="7" name="Text 5"/>
          <p:cNvSpPr/>
          <p:nvPr/>
        </p:nvSpPr>
        <p:spPr>
          <a:xfrm>
            <a:off x="914400" y="2834640"/>
            <a:ext cx="4846320" cy="274320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5A6B8C"/>
                </a:solidFill>
                <a:latin typeface="Calibri" pitchFamily="34" charset="0"/>
                <a:ea typeface="Calibri" pitchFamily="34" charset="-122"/>
                <a:cs typeface="Calibri" pitchFamily="34" charset="-120"/>
              </a:rPr>
              <a:t>"Costs destroy the edge" — was UK stamp duty, not the rules</a:t>
            </a:r>
            <a:endParaRPr lang="en-US" sz="1250" dirty="0"/>
          </a:p>
          <a:p>
            <a:pPr marL="342900" indent="-342900">
              <a:spcAft>
                <a:spcPts val="900"/>
              </a:spcAft>
              <a:buSzPct val="100000"/>
              <a:buChar char="•"/>
            </a:pPr>
            <a:r>
              <a:rPr lang="en-US" sz="1250" dirty="0">
                <a:solidFill>
                  <a:srgbClr val="5A6B8C"/>
                </a:solidFill>
                <a:latin typeface="Calibri" pitchFamily="34" charset="0"/>
                <a:ea typeface="Calibri" pitchFamily="34" charset="-122"/>
                <a:cs typeface="Calibri" pitchFamily="34" charset="-120"/>
              </a:rPr>
              <a:t>"Low volatility is the alpha" — inside its own margin of error</a:t>
            </a:r>
            <a:endParaRPr lang="en-US" sz="1250" dirty="0"/>
          </a:p>
          <a:p>
            <a:pPr marL="342900" indent="-342900">
              <a:spcAft>
                <a:spcPts val="900"/>
              </a:spcAft>
              <a:buSzPct val="100000"/>
              <a:buChar char="•"/>
            </a:pPr>
            <a:r>
              <a:rPr lang="en-US" sz="1250" dirty="0">
                <a:solidFill>
                  <a:srgbClr val="5A6B8C"/>
                </a:solidFill>
                <a:latin typeface="Calibri" pitchFamily="34" charset="0"/>
                <a:ea typeface="Calibri" pitchFamily="34" charset="-122"/>
                <a:cs typeface="Calibri" pitchFamily="34" charset="-120"/>
              </a:rPr>
              <a:t>"Winners are being capped" — the trailing exit made it far worse</a:t>
            </a:r>
            <a:endParaRPr lang="en-US" sz="1250" dirty="0"/>
          </a:p>
          <a:p>
            <a:pPr marL="342900" indent="-342900">
              <a:spcAft>
                <a:spcPts val="900"/>
              </a:spcAft>
              <a:buSzPct val="100000"/>
              <a:buChar char="•"/>
            </a:pPr>
            <a:r>
              <a:rPr lang="en-US" sz="1250" dirty="0">
                <a:solidFill>
                  <a:srgbClr val="5A6B8C"/>
                </a:solidFill>
                <a:latin typeface="Calibri" pitchFamily="34" charset="0"/>
                <a:ea typeface="Calibri" pitchFamily="34" charset="-122"/>
                <a:cs typeface="Calibri" pitchFamily="34" charset="-120"/>
              </a:rPr>
              <a:t>"We win on risk-adjusted return" — as first stated, false</a:t>
            </a:r>
            <a:endParaRPr lang="en-US" sz="1250" dirty="0"/>
          </a:p>
          <a:p>
            <a:pPr marL="342900" indent="-342900">
              <a:spcAft>
                <a:spcPts val="900"/>
              </a:spcAft>
              <a:buSzPct val="100000"/>
              <a:buChar char="•"/>
            </a:pPr>
            <a:r>
              <a:rPr lang="en-US" sz="1250" dirty="0">
                <a:solidFill>
                  <a:srgbClr val="5A6B8C"/>
                </a:solidFill>
                <a:latin typeface="Calibri" pitchFamily="34" charset="0"/>
                <a:ea typeface="Calibri" pitchFamily="34" charset="-122"/>
                <a:cs typeface="Calibri" pitchFamily="34" charset="-120"/>
              </a:rPr>
              <a:t>"More strategies diversify" — all twelve drew down deepest</a:t>
            </a:r>
            <a:endParaRPr lang="en-US" sz="1250" dirty="0"/>
          </a:p>
        </p:txBody>
      </p:sp>
      <p:sp>
        <p:nvSpPr>
          <p:cNvPr id="8" name="Shape 6"/>
          <p:cNvSpPr/>
          <p:nvPr/>
        </p:nvSpPr>
        <p:spPr>
          <a:xfrm>
            <a:off x="6172200" y="1828800"/>
            <a:ext cx="5349240" cy="3931920"/>
          </a:xfrm>
          <a:prstGeom prst="roundRect">
            <a:avLst>
              <a:gd name="adj" fmla="val 1395"/>
            </a:avLst>
          </a:prstGeom>
          <a:solidFill>
            <a:srgbClr val="1E2761"/>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9" name="Text 7"/>
          <p:cNvSpPr/>
          <p:nvPr/>
        </p:nvSpPr>
        <p:spPr>
          <a:xfrm>
            <a:off x="6446520" y="2057400"/>
            <a:ext cx="4754880" cy="38404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Eight material bugs found and fixed</a:t>
            </a:r>
            <a:endParaRPr lang="en-US" sz="1900" dirty="0"/>
          </a:p>
        </p:txBody>
      </p:sp>
      <p:sp>
        <p:nvSpPr>
          <p:cNvPr id="10" name="Text 8"/>
          <p:cNvSpPr/>
          <p:nvPr/>
        </p:nvSpPr>
        <p:spPr>
          <a:xfrm>
            <a:off x="6446520" y="2432304"/>
            <a:ext cx="4754880" cy="274320"/>
          </a:xfrm>
          <a:prstGeom prst="rect">
            <a:avLst/>
          </a:prstGeom>
          <a:noFill/>
          <a:ln/>
        </p:spPr>
        <p:txBody>
          <a:bodyPr wrap="square" lIns="0" tIns="0" rIns="0" bIns="0" rtlCol="0" anchor="ctr"/>
          <a:lstStyle/>
          <a:p>
            <a:pPr indent="0" marL="0">
              <a:buNone/>
            </a:pPr>
            <a:r>
              <a:rPr lang="en-US" sz="1150" i="1" dirty="0">
                <a:solidFill>
                  <a:srgbClr val="CADCFC"/>
                </a:solidFill>
                <a:latin typeface="Calibri" pitchFamily="34" charset="0"/>
                <a:ea typeface="Calibri" pitchFamily="34" charset="-122"/>
                <a:cs typeface="Calibri" pitchFamily="34" charset="-120"/>
              </a:rPr>
              <a:t>— two by the founder, reviewing the machine's work</a:t>
            </a:r>
            <a:endParaRPr lang="en-US" sz="1150" dirty="0"/>
          </a:p>
        </p:txBody>
      </p:sp>
      <p:sp>
        <p:nvSpPr>
          <p:cNvPr id="11" name="Text 9"/>
          <p:cNvSpPr/>
          <p:nvPr/>
        </p:nvSpPr>
        <p:spPr>
          <a:xfrm>
            <a:off x="6446520" y="2834640"/>
            <a:ext cx="4846320" cy="274320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CADCFC"/>
                </a:solidFill>
                <a:latin typeface="Calibri" pitchFamily="34" charset="0"/>
                <a:ea typeface="Calibri" pitchFamily="34" charset="-122"/>
                <a:cs typeface="Calibri" pitchFamily="34" charset="-120"/>
              </a:rPr>
              <a:t>~2× accidental leverage inflating every headline return</a:t>
            </a:r>
            <a:endParaRPr lang="en-US" sz="1250" dirty="0"/>
          </a:p>
          <a:p>
            <a:pPr marL="342900" indent="-342900">
              <a:spcAft>
                <a:spcPts val="900"/>
              </a:spcAft>
              <a:buSzPct val="100000"/>
              <a:buChar char="•"/>
            </a:pPr>
            <a:r>
              <a:rPr lang="en-US" sz="1250" dirty="0">
                <a:solidFill>
                  <a:srgbClr val="CADCFC"/>
                </a:solidFill>
                <a:latin typeface="Calibri" pitchFamily="34" charset="0"/>
                <a:ea typeface="Calibri" pitchFamily="34" charset="-122"/>
                <a:cs typeface="Calibri" pitchFamily="34" charset="-120"/>
              </a:rPr>
              <a:t>Drawdown divided by the final peak, understating every fall</a:t>
            </a:r>
            <a:endParaRPr lang="en-US" sz="1250" dirty="0"/>
          </a:p>
          <a:p>
            <a:pPr marL="342900" indent="-342900">
              <a:spcAft>
                <a:spcPts val="900"/>
              </a:spcAft>
              <a:buSzPct val="100000"/>
              <a:buChar char="•"/>
            </a:pPr>
            <a:r>
              <a:rPr lang="en-US" sz="1250" dirty="0">
                <a:solidFill>
                  <a:srgbClr val="CADCFC"/>
                </a:solidFill>
                <a:latin typeface="Calibri" pitchFamily="34" charset="0"/>
                <a:ea typeface="Calibri" pitchFamily="34" charset="-122"/>
                <a:cs typeface="Calibri" pitchFamily="34" charset="-120"/>
              </a:rPr>
              <a:t>Six of twelve strategies structurally unable to pick FX or futures</a:t>
            </a:r>
            <a:endParaRPr lang="en-US" sz="1250" dirty="0"/>
          </a:p>
          <a:p>
            <a:pPr marL="342900" indent="-342900">
              <a:spcAft>
                <a:spcPts val="900"/>
              </a:spcAft>
              <a:buSzPct val="100000"/>
              <a:buChar char="•"/>
            </a:pPr>
            <a:r>
              <a:rPr lang="en-US" sz="1250" dirty="0">
                <a:solidFill>
                  <a:srgbClr val="CADCFC"/>
                </a:solidFill>
                <a:latin typeface="Calibri" pitchFamily="34" charset="0"/>
                <a:ea typeface="Calibri" pitchFamily="34" charset="-122"/>
                <a:cs typeface="Calibri" pitchFamily="34" charset="-120"/>
              </a:rPr>
              <a:t>Rate-limited data cached as though it were a finding</a:t>
            </a:r>
            <a:endParaRPr lang="en-US" sz="1250" dirty="0"/>
          </a:p>
          <a:p>
            <a:pPr marL="342900" indent="-342900">
              <a:spcAft>
                <a:spcPts val="900"/>
              </a:spcAft>
              <a:buSzPct val="100000"/>
              <a:buChar char="•"/>
            </a:pPr>
            <a:r>
              <a:rPr lang="en-US" sz="1250" dirty="0">
                <a:solidFill>
                  <a:srgbClr val="CADCFC"/>
                </a:solidFill>
                <a:latin typeface="Calibri" pitchFamily="34" charset="0"/>
                <a:ea typeface="Calibri" pitchFamily="34" charset="-122"/>
                <a:cs typeface="Calibri" pitchFamily="34" charset="-120"/>
              </a:rPr>
              <a:t>The same bet bought twice — spot FX and its own future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200" b="1" spc="200" kern="0" dirty="0">
                <a:solidFill>
                  <a:srgbClr val="5A6B8C"/>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What the next phase has to prove</a:t>
            </a:r>
            <a:endParaRPr lang="en-US" sz="3400" dirty="0"/>
          </a:p>
        </p:txBody>
      </p:sp>
      <p:sp>
        <p:nvSpPr>
          <p:cNvPr id="4" name="Shape 2"/>
          <p:cNvSpPr/>
          <p:nvPr/>
        </p:nvSpPr>
        <p:spPr>
          <a:xfrm>
            <a:off x="640080" y="1874520"/>
            <a:ext cx="2624328" cy="3246120"/>
          </a:xfrm>
          <a:prstGeom prst="roundRect">
            <a:avLst>
              <a:gd name="adj" fmla="val 2091"/>
            </a:avLst>
          </a:prstGeom>
          <a:solidFill>
            <a:srgbClr val="FFF8EC"/>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5" name="Shape 3"/>
          <p:cNvSpPr/>
          <p:nvPr/>
        </p:nvSpPr>
        <p:spPr>
          <a:xfrm>
            <a:off x="896112" y="2121408"/>
            <a:ext cx="420624" cy="420624"/>
          </a:xfrm>
          <a:prstGeom prst="ellipse">
            <a:avLst/>
          </a:prstGeom>
          <a:solidFill>
            <a:srgbClr val="C8871B"/>
          </a:solidFill>
          <a:ln w="12700">
            <a:solidFill>
              <a:srgbClr val="C8871B"/>
            </a:solidFill>
            <a:prstDash val="solid"/>
          </a:ln>
        </p:spPr>
      </p:sp>
      <p:sp>
        <p:nvSpPr>
          <p:cNvPr id="6" name="Text 4"/>
          <p:cNvSpPr/>
          <p:nvPr/>
        </p:nvSpPr>
        <p:spPr>
          <a:xfrm>
            <a:off x="896112" y="21214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96112" y="2697480"/>
            <a:ext cx="2148840" cy="658368"/>
          </a:xfrm>
          <a:prstGeom prst="rect">
            <a:avLst/>
          </a:prstGeom>
          <a:noFill/>
          <a:ln/>
        </p:spPr>
        <p:txBody>
          <a:bodyPr wrap="square" lIns="0" tIns="0" rIns="0" bIns="0" rtlCol="0" anchor="ctr"/>
          <a:lstStyle/>
          <a:p>
            <a:pPr indent="0" marL="0">
              <a:buNone/>
            </a:pPr>
            <a:r>
              <a:rPr lang="en-US" sz="1600" b="1" dirty="0">
                <a:solidFill>
                  <a:srgbClr val="C8871B"/>
                </a:solidFill>
                <a:latin typeface="Cambria" pitchFamily="34" charset="0"/>
                <a:ea typeface="Cambria" pitchFamily="34" charset="-122"/>
                <a:cs typeface="Cambria" pitchFamily="34" charset="-120"/>
              </a:rPr>
              <a:t>A real out-of-sample test</a:t>
            </a:r>
            <a:endParaRPr lang="en-US" sz="1600" dirty="0"/>
          </a:p>
        </p:txBody>
      </p:sp>
      <p:sp>
        <p:nvSpPr>
          <p:cNvPr id="8" name="Text 6"/>
          <p:cNvSpPr/>
          <p:nvPr/>
        </p:nvSpPr>
        <p:spPr>
          <a:xfrm>
            <a:off x="896112" y="3401568"/>
            <a:ext cx="2148840" cy="1554480"/>
          </a:xfrm>
          <a:prstGeom prst="rect">
            <a:avLst/>
          </a:prstGeom>
          <a:noFill/>
          <a:ln/>
        </p:spPr>
        <p:txBody>
          <a:bodyPr wrap="square" lIns="0" tIns="0" rIns="0" bIns="0" rtlCol="0" anchor="ctr"/>
          <a:lstStyle/>
          <a:p>
            <a:pPr indent="0" marL="0">
              <a:buNone/>
            </a:pPr>
            <a:r>
              <a:rPr lang="en-US" sz="1150" dirty="0">
                <a:solidFill>
                  <a:srgbClr val="5A6B8C"/>
                </a:solidFill>
                <a:latin typeface="Calibri" pitchFamily="34" charset="0"/>
                <a:ea typeface="Calibri" pitchFamily="34" charset="-122"/>
                <a:cs typeface="Calibri" pitchFamily="34" charset="-120"/>
              </a:rPr>
              <a:t>Walk-forward across regimes, including periods where each style was out of favour. Until this exists, no return figure here should be relied on.</a:t>
            </a:r>
            <a:endParaRPr lang="en-US" sz="1150" dirty="0"/>
          </a:p>
        </p:txBody>
      </p:sp>
      <p:sp>
        <p:nvSpPr>
          <p:cNvPr id="9" name="Shape 7"/>
          <p:cNvSpPr/>
          <p:nvPr/>
        </p:nvSpPr>
        <p:spPr>
          <a:xfrm>
            <a:off x="3383280" y="1874520"/>
            <a:ext cx="2624328" cy="3246120"/>
          </a:xfrm>
          <a:prstGeom prst="roundRect">
            <a:avLst>
              <a:gd name="adj" fmla="val 2091"/>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10" name="Shape 8"/>
          <p:cNvSpPr/>
          <p:nvPr/>
        </p:nvSpPr>
        <p:spPr>
          <a:xfrm>
            <a:off x="3639312" y="2121408"/>
            <a:ext cx="420624" cy="420624"/>
          </a:xfrm>
          <a:prstGeom prst="ellipse">
            <a:avLst/>
          </a:prstGeom>
          <a:solidFill>
            <a:srgbClr val="1E2761"/>
          </a:solidFill>
          <a:ln w="12700">
            <a:solidFill>
              <a:srgbClr val="1E2761"/>
            </a:solidFill>
            <a:prstDash val="solid"/>
          </a:ln>
        </p:spPr>
      </p:sp>
      <p:sp>
        <p:nvSpPr>
          <p:cNvPr id="11" name="Text 9"/>
          <p:cNvSpPr/>
          <p:nvPr/>
        </p:nvSpPr>
        <p:spPr>
          <a:xfrm>
            <a:off x="3639312" y="21214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3639312" y="2697480"/>
            <a:ext cx="2148840" cy="658368"/>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Honest futures sizing</a:t>
            </a:r>
            <a:endParaRPr lang="en-US" sz="1600" dirty="0"/>
          </a:p>
        </p:txBody>
      </p:sp>
      <p:sp>
        <p:nvSpPr>
          <p:cNvPr id="13" name="Text 11"/>
          <p:cNvSpPr/>
          <p:nvPr/>
        </p:nvSpPr>
        <p:spPr>
          <a:xfrm>
            <a:off x="3639312" y="3401568"/>
            <a:ext cx="2148840" cy="1554480"/>
          </a:xfrm>
          <a:prstGeom prst="rect">
            <a:avLst/>
          </a:prstGeom>
          <a:noFill/>
          <a:ln/>
        </p:spPr>
        <p:txBody>
          <a:bodyPr wrap="square" lIns="0" tIns="0" rIns="0" bIns="0" rtlCol="0" anchor="ctr"/>
          <a:lstStyle/>
          <a:p>
            <a:pPr indent="0" marL="0">
              <a:buNone/>
            </a:pPr>
            <a:r>
              <a:rPr lang="en-US" sz="1150" dirty="0">
                <a:solidFill>
                  <a:srgbClr val="5A6B8C"/>
                </a:solidFill>
                <a:latin typeface="Calibri" pitchFamily="34" charset="0"/>
                <a:ea typeface="Calibri" pitchFamily="34" charset="-122"/>
                <a:cs typeface="Calibri" pitchFamily="34" charset="-120"/>
              </a:rPr>
              <a:t>Margin and contract multipliers, so multi-asset results mean something.</a:t>
            </a:r>
            <a:endParaRPr lang="en-US" sz="1150" dirty="0"/>
          </a:p>
        </p:txBody>
      </p:sp>
      <p:sp>
        <p:nvSpPr>
          <p:cNvPr id="14" name="Shape 12"/>
          <p:cNvSpPr/>
          <p:nvPr/>
        </p:nvSpPr>
        <p:spPr>
          <a:xfrm>
            <a:off x="6126480" y="1874520"/>
            <a:ext cx="2624328" cy="3246120"/>
          </a:xfrm>
          <a:prstGeom prst="roundRect">
            <a:avLst>
              <a:gd name="adj" fmla="val 2091"/>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15" name="Shape 13"/>
          <p:cNvSpPr/>
          <p:nvPr/>
        </p:nvSpPr>
        <p:spPr>
          <a:xfrm>
            <a:off x="6382512" y="2121408"/>
            <a:ext cx="420624" cy="420624"/>
          </a:xfrm>
          <a:prstGeom prst="ellipse">
            <a:avLst/>
          </a:prstGeom>
          <a:solidFill>
            <a:srgbClr val="1E2761"/>
          </a:solidFill>
          <a:ln w="12700">
            <a:solidFill>
              <a:srgbClr val="1E2761"/>
            </a:solidFill>
            <a:prstDash val="solid"/>
          </a:ln>
        </p:spPr>
      </p:sp>
      <p:sp>
        <p:nvSpPr>
          <p:cNvPr id="16" name="Text 14"/>
          <p:cNvSpPr/>
          <p:nvPr/>
        </p:nvSpPr>
        <p:spPr>
          <a:xfrm>
            <a:off x="6382512" y="21214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6382512" y="2697480"/>
            <a:ext cx="2148840" cy="658368"/>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Forward track record</a:t>
            </a:r>
            <a:endParaRPr lang="en-US" sz="1600" dirty="0"/>
          </a:p>
        </p:txBody>
      </p:sp>
      <p:sp>
        <p:nvSpPr>
          <p:cNvPr id="18" name="Text 16"/>
          <p:cNvSpPr/>
          <p:nvPr/>
        </p:nvSpPr>
        <p:spPr>
          <a:xfrm>
            <a:off x="6382512" y="3401568"/>
            <a:ext cx="2148840" cy="1554480"/>
          </a:xfrm>
          <a:prstGeom prst="rect">
            <a:avLst/>
          </a:prstGeom>
          <a:noFill/>
          <a:ln/>
        </p:spPr>
        <p:txBody>
          <a:bodyPr wrap="square" lIns="0" tIns="0" rIns="0" bIns="0" rtlCol="0" anchor="ctr"/>
          <a:lstStyle/>
          <a:p>
            <a:pPr indent="0" marL="0">
              <a:buNone/>
            </a:pPr>
            <a:r>
              <a:rPr lang="en-US" sz="1150" dirty="0">
                <a:solidFill>
                  <a:srgbClr val="5A6B8C"/>
                </a:solidFill>
                <a:latin typeface="Calibri" pitchFamily="34" charset="0"/>
                <a:ea typeface="Calibri" pitchFamily="34" charset="-122"/>
                <a:cs typeface="Calibri" pitchFamily="34" charset="-120"/>
              </a:rPr>
              <a:t>Continuous paper trading on licensed data, published with closed trades and full provenance.</a:t>
            </a:r>
            <a:endParaRPr lang="en-US" sz="1150" dirty="0"/>
          </a:p>
        </p:txBody>
      </p:sp>
      <p:sp>
        <p:nvSpPr>
          <p:cNvPr id="19" name="Shape 17"/>
          <p:cNvSpPr/>
          <p:nvPr/>
        </p:nvSpPr>
        <p:spPr>
          <a:xfrm>
            <a:off x="8869680" y="1874520"/>
            <a:ext cx="2624328" cy="3246120"/>
          </a:xfrm>
          <a:prstGeom prst="roundRect">
            <a:avLst>
              <a:gd name="adj" fmla="val 2091"/>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20" name="Shape 18"/>
          <p:cNvSpPr/>
          <p:nvPr/>
        </p:nvSpPr>
        <p:spPr>
          <a:xfrm>
            <a:off x="9125712" y="2121408"/>
            <a:ext cx="420624" cy="420624"/>
          </a:xfrm>
          <a:prstGeom prst="ellipse">
            <a:avLst/>
          </a:prstGeom>
          <a:solidFill>
            <a:srgbClr val="1E2761"/>
          </a:solidFill>
          <a:ln w="12700">
            <a:solidFill>
              <a:srgbClr val="1E2761"/>
            </a:solidFill>
            <a:prstDash val="solid"/>
          </a:ln>
        </p:spPr>
      </p:sp>
      <p:sp>
        <p:nvSpPr>
          <p:cNvPr id="21" name="Text 19"/>
          <p:cNvSpPr/>
          <p:nvPr/>
        </p:nvSpPr>
        <p:spPr>
          <a:xfrm>
            <a:off x="9125712" y="21214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9125712" y="2697480"/>
            <a:ext cx="2148840" cy="658368"/>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Options data</a:t>
            </a:r>
            <a:endParaRPr lang="en-US" sz="1600" dirty="0"/>
          </a:p>
        </p:txBody>
      </p:sp>
      <p:sp>
        <p:nvSpPr>
          <p:cNvPr id="23" name="Text 21"/>
          <p:cNvSpPr/>
          <p:nvPr/>
        </p:nvSpPr>
        <p:spPr>
          <a:xfrm>
            <a:off x="9125712" y="3401568"/>
            <a:ext cx="2148840" cy="1554480"/>
          </a:xfrm>
          <a:prstGeom prst="rect">
            <a:avLst/>
          </a:prstGeom>
          <a:noFill/>
          <a:ln/>
        </p:spPr>
        <p:txBody>
          <a:bodyPr wrap="square" lIns="0" tIns="0" rIns="0" bIns="0" rtlCol="0" anchor="ctr"/>
          <a:lstStyle/>
          <a:p>
            <a:pPr indent="0" marL="0">
              <a:buNone/>
            </a:pPr>
            <a:r>
              <a:rPr lang="en-US" sz="1150" dirty="0">
                <a:solidFill>
                  <a:srgbClr val="5A6B8C"/>
                </a:solidFill>
                <a:latin typeface="Calibri" pitchFamily="34" charset="0"/>
                <a:ea typeface="Calibri" pitchFamily="34" charset="-122"/>
                <a:cs typeface="Calibri" pitchFamily="34" charset="-120"/>
              </a:rPr>
              <a:t>The only route to a defined-risk hedge. Nothing in the book is negatively correlated with anything else.</a:t>
            </a:r>
            <a:endParaRPr lang="en-US" sz="1150" dirty="0"/>
          </a:p>
        </p:txBody>
      </p:sp>
      <p:sp>
        <p:nvSpPr>
          <p:cNvPr id="24" name="Text 22"/>
          <p:cNvSpPr/>
          <p:nvPr/>
        </p:nvSpPr>
        <p:spPr>
          <a:xfrm>
            <a:off x="640080" y="5394960"/>
            <a:ext cx="10881360" cy="365760"/>
          </a:xfrm>
          <a:prstGeom prst="rect">
            <a:avLst/>
          </a:prstGeom>
          <a:noFill/>
          <a:ln/>
        </p:spPr>
        <p:txBody>
          <a:bodyPr wrap="square" lIns="0" tIns="0" rIns="0" bIns="0" rtlCol="0" anchor="ctr"/>
          <a:lstStyle/>
          <a:p>
            <a:pPr indent="0" marL="0">
              <a:buNone/>
            </a:pPr>
            <a:r>
              <a:rPr lang="en-US" sz="1350" b="1" i="1" dirty="0">
                <a:solidFill>
                  <a:srgbClr val="1E2761"/>
                </a:solidFill>
                <a:latin typeface="Calibri" pitchFamily="34" charset="0"/>
                <a:ea typeface="Calibri" pitchFamily="34" charset="-122"/>
                <a:cs typeface="Calibri" pitchFamily="34" charset="-120"/>
              </a:rPr>
              <a:t>Priority one is the item that could invalidate the rest. That ordering is deliberate.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200" b="1" spc="200" kern="0" dirty="0">
                <a:solidFill>
                  <a:srgbClr val="5A6B8C"/>
                </a:solidFill>
                <a:latin typeface="Calibri" pitchFamily="34" charset="0"/>
                <a:ea typeface="Calibri" pitchFamily="34" charset="-122"/>
                <a:cs typeface="Calibri" pitchFamily="34" charset="-120"/>
              </a:rPr>
              <a:t>FUNDING</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The ask</a:t>
            </a:r>
            <a:endParaRPr lang="en-US" sz="3400" dirty="0"/>
          </a:p>
        </p:txBody>
      </p:sp>
      <p:sp>
        <p:nvSpPr>
          <p:cNvPr id="4" name="Shape 2"/>
          <p:cNvSpPr/>
          <p:nvPr/>
        </p:nvSpPr>
        <p:spPr>
          <a:xfrm>
            <a:off x="640080" y="1828800"/>
            <a:ext cx="10881360" cy="1371600"/>
          </a:xfrm>
          <a:prstGeom prst="roundRect">
            <a:avLst>
              <a:gd name="adj" fmla="val 4000"/>
            </a:avLst>
          </a:prstGeom>
          <a:solidFill>
            <a:srgbClr val="1E2761"/>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5" name="Text 3"/>
          <p:cNvSpPr/>
          <p:nvPr/>
        </p:nvSpPr>
        <p:spPr>
          <a:xfrm>
            <a:off x="1005840" y="2121408"/>
            <a:ext cx="10149840" cy="4572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£1,000,000 to scale the live system</a:t>
            </a:r>
            <a:endParaRPr lang="en-US" sz="2700" dirty="0"/>
          </a:p>
        </p:txBody>
      </p:sp>
      <p:sp>
        <p:nvSpPr>
          <p:cNvPr id="6" name="Text 4"/>
          <p:cNvSpPr/>
          <p:nvPr/>
        </p:nvSpPr>
        <p:spPr>
          <a:xfrm>
            <a:off x="1005840" y="2633472"/>
            <a:ext cx="10149840" cy="32004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The majority of capital is deployed to trading, keeping overhead deliberately lean.</a:t>
            </a:r>
            <a:endParaRPr lang="en-US" sz="1200" dirty="0"/>
          </a:p>
        </p:txBody>
      </p:sp>
      <p:sp>
        <p:nvSpPr>
          <p:cNvPr id="7" name="Shape 5"/>
          <p:cNvSpPr/>
          <p:nvPr/>
        </p:nvSpPr>
        <p:spPr>
          <a:xfrm>
            <a:off x="640080" y="3520440"/>
            <a:ext cx="10881360" cy="914400"/>
          </a:xfrm>
          <a:prstGeom prst="roundRect">
            <a:avLst>
              <a:gd name="adj" fmla="val 6000"/>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8" name="Shape 6"/>
          <p:cNvSpPr/>
          <p:nvPr/>
        </p:nvSpPr>
        <p:spPr>
          <a:xfrm>
            <a:off x="914400" y="3767328"/>
            <a:ext cx="420624" cy="420624"/>
          </a:xfrm>
          <a:prstGeom prst="ellipse">
            <a:avLst/>
          </a:prstGeom>
          <a:solidFill>
            <a:srgbClr val="1E2761"/>
          </a:solidFill>
          <a:ln w="12700">
            <a:solidFill>
              <a:srgbClr val="1E2761"/>
            </a:solidFill>
            <a:prstDash val="solid"/>
          </a:ln>
        </p:spPr>
      </p:sp>
      <p:sp>
        <p:nvSpPr>
          <p:cNvPr id="9" name="Text 7"/>
          <p:cNvSpPr/>
          <p:nvPr/>
        </p:nvSpPr>
        <p:spPr>
          <a:xfrm>
            <a:off x="914400" y="37673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600200" y="3703320"/>
            <a:ext cx="347472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£900,000 — Exchange Investment</a:t>
            </a:r>
            <a:endParaRPr lang="en-US" sz="1400" dirty="0"/>
          </a:p>
        </p:txBody>
      </p:sp>
      <p:sp>
        <p:nvSpPr>
          <p:cNvPr id="11" name="Text 9"/>
          <p:cNvSpPr/>
          <p:nvPr/>
        </p:nvSpPr>
        <p:spPr>
          <a:xfrm>
            <a:off x="5120640" y="3703320"/>
            <a:ext cx="6217920" cy="566928"/>
          </a:xfrm>
          <a:prstGeom prst="rect">
            <a:avLst/>
          </a:prstGeom>
          <a:noFill/>
          <a:ln/>
        </p:spPr>
        <p:txBody>
          <a:bodyPr wrap="square" lIns="0" tIns="0" rIns="0" bIns="0" rtlCol="0" anchor="ctr"/>
          <a:lstStyle/>
          <a:p>
            <a:pPr indent="0" marL="0">
              <a:buNone/>
            </a:pPr>
            <a:r>
              <a:rPr lang="en-US" sz="1200" dirty="0">
                <a:solidFill>
                  <a:srgbClr val="5A6B8C"/>
                </a:solidFill>
                <a:latin typeface="Calibri" pitchFamily="34" charset="0"/>
                <a:ea typeface="Calibri" pitchFamily="34" charset="-122"/>
                <a:cs typeface="Calibri" pitchFamily="34" charset="-120"/>
              </a:rPr>
              <a:t>Capital directly invested into the exchange to provide the primary trading capital for the system's live operation.</a:t>
            </a:r>
            <a:endParaRPr lang="en-US" sz="1200" dirty="0"/>
          </a:p>
        </p:txBody>
      </p:sp>
      <p:sp>
        <p:nvSpPr>
          <p:cNvPr id="12" name="Shape 10"/>
          <p:cNvSpPr/>
          <p:nvPr/>
        </p:nvSpPr>
        <p:spPr>
          <a:xfrm>
            <a:off x="640080" y="4709160"/>
            <a:ext cx="10881360" cy="914400"/>
          </a:xfrm>
          <a:prstGeom prst="roundRect">
            <a:avLst>
              <a:gd name="adj" fmla="val 6000"/>
            </a:avLst>
          </a:prstGeom>
          <a:solidFill>
            <a:srgbClr val="FFFFF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13" name="Shape 11"/>
          <p:cNvSpPr/>
          <p:nvPr/>
        </p:nvSpPr>
        <p:spPr>
          <a:xfrm>
            <a:off x="914400" y="4956048"/>
            <a:ext cx="420624" cy="420624"/>
          </a:xfrm>
          <a:prstGeom prst="ellipse">
            <a:avLst/>
          </a:prstGeom>
          <a:solidFill>
            <a:srgbClr val="1E2761"/>
          </a:solidFill>
          <a:ln w="12700">
            <a:solidFill>
              <a:srgbClr val="1E2761"/>
            </a:solidFill>
            <a:prstDash val="solid"/>
          </a:ln>
        </p:spPr>
      </p:sp>
      <p:sp>
        <p:nvSpPr>
          <p:cNvPr id="14" name="Text 12"/>
          <p:cNvSpPr/>
          <p:nvPr/>
        </p:nvSpPr>
        <p:spPr>
          <a:xfrm>
            <a:off x="914400" y="495604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p:nvPr/>
        </p:nvSpPr>
        <p:spPr>
          <a:xfrm>
            <a:off x="1600200" y="4892040"/>
            <a:ext cx="347472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£100,000 — Official Work &amp; Data</a:t>
            </a:r>
            <a:endParaRPr lang="en-US" sz="1400" dirty="0"/>
          </a:p>
        </p:txBody>
      </p:sp>
      <p:sp>
        <p:nvSpPr>
          <p:cNvPr id="16" name="Text 14"/>
          <p:cNvSpPr/>
          <p:nvPr/>
        </p:nvSpPr>
        <p:spPr>
          <a:xfrm>
            <a:off x="5120640" y="4892040"/>
            <a:ext cx="6217920" cy="566928"/>
          </a:xfrm>
          <a:prstGeom prst="rect">
            <a:avLst/>
          </a:prstGeom>
          <a:noFill/>
          <a:ln/>
        </p:spPr>
        <p:txBody>
          <a:bodyPr wrap="square" lIns="0" tIns="0" rIns="0" bIns="0" rtlCol="0" anchor="ctr"/>
          <a:lstStyle/>
          <a:p>
            <a:pPr indent="0" marL="0">
              <a:buNone/>
            </a:pPr>
            <a:r>
              <a:rPr lang="en-US" sz="1200" dirty="0">
                <a:solidFill>
                  <a:srgbClr val="5A6B8C"/>
                </a:solidFill>
                <a:latin typeface="Calibri" pitchFamily="34" charset="0"/>
                <a:ea typeface="Calibri" pitchFamily="34" charset="-122"/>
                <a:cs typeface="Calibri" pitchFamily="34" charset="-120"/>
              </a:rPr>
              <a:t>Allocated to acquiring quicker, higher-quality data for bettering the system, and upgrading AI infrastructure to increase computation speed.</a:t>
            </a:r>
            <a:endParaRPr lang="en-US" sz="1200" dirty="0"/>
          </a:p>
        </p:txBody>
      </p:sp>
      <p:sp>
        <p:nvSpPr>
          <p:cNvPr id="17" name="Text 15"/>
          <p:cNvSpPr/>
          <p:nvPr/>
        </p:nvSpPr>
        <p:spPr>
          <a:xfrm>
            <a:off x="640080" y="6172200"/>
            <a:ext cx="10881360" cy="36576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Milestone for the next round: proving live returns on deployed capital with verified execution.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533"/>
        </a:solidFill>
      </p:bgPr>
    </p:bg>
    <p:spTree>
      <p:nvGrpSpPr>
        <p:cNvPr id="1" name=""/>
        <p:cNvGrpSpPr/>
        <p:nvPr/>
      </p:nvGrpSpPr>
      <p:grpSpPr>
        <a:xfrm>
          <a:off x="0" y="0"/>
          <a:ext cx="0" cy="0"/>
          <a:chOff x="0" y="0"/>
          <a:chExt cx="0" cy="0"/>
        </a:xfrm>
      </p:grpSpPr>
      <p:sp>
        <p:nvSpPr>
          <p:cNvPr id="2" name="Text 0"/>
          <p:cNvSpPr/>
          <p:nvPr/>
        </p:nvSpPr>
        <p:spPr>
          <a:xfrm>
            <a:off x="822960" y="1371600"/>
            <a:ext cx="10241280" cy="6858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What we can prove, and what we cannot</a:t>
            </a:r>
            <a:endParaRPr lang="en-US" sz="3600" dirty="0"/>
          </a:p>
        </p:txBody>
      </p:sp>
      <p:sp>
        <p:nvSpPr>
          <p:cNvPr id="3" name="Shape 1"/>
          <p:cNvSpPr/>
          <p:nvPr/>
        </p:nvSpPr>
        <p:spPr>
          <a:xfrm>
            <a:off x="822960" y="2377440"/>
            <a:ext cx="5029200" cy="2743200"/>
          </a:xfrm>
          <a:prstGeom prst="roundRect">
            <a:avLst>
              <a:gd name="adj" fmla="val 2000"/>
            </a:avLst>
          </a:prstGeom>
          <a:solidFill>
            <a:srgbClr val="18213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4" name="Text 2"/>
          <p:cNvSpPr/>
          <p:nvPr/>
        </p:nvSpPr>
        <p:spPr>
          <a:xfrm>
            <a:off x="1143000" y="2606040"/>
            <a:ext cx="4389120" cy="365760"/>
          </a:xfrm>
          <a:prstGeom prst="rect">
            <a:avLst/>
          </a:prstGeom>
          <a:noFill/>
          <a:ln/>
        </p:spPr>
        <p:txBody>
          <a:bodyPr wrap="square" lIns="0" tIns="0" rIns="0" bIns="0" rtlCol="0" anchor="ctr"/>
          <a:lstStyle/>
          <a:p>
            <a:pPr indent="0" marL="0">
              <a:buNone/>
            </a:pPr>
            <a:r>
              <a:rPr lang="en-US" sz="2000" b="1" dirty="0">
                <a:solidFill>
                  <a:srgbClr val="6FBF9B"/>
                </a:solidFill>
                <a:latin typeface="Cambria" pitchFamily="34" charset="0"/>
                <a:ea typeface="Cambria" pitchFamily="34" charset="-122"/>
                <a:cs typeface="Cambria" pitchFamily="34" charset="-120"/>
              </a:rPr>
              <a:t>Proven</a:t>
            </a:r>
            <a:endParaRPr lang="en-US" sz="2000" dirty="0"/>
          </a:p>
        </p:txBody>
      </p:sp>
      <p:sp>
        <p:nvSpPr>
          <p:cNvPr id="5" name="Text 3"/>
          <p:cNvSpPr/>
          <p:nvPr/>
        </p:nvSpPr>
        <p:spPr>
          <a:xfrm>
            <a:off x="1143000" y="3017520"/>
            <a:ext cx="4480560" cy="192024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The system runs live on licensed broker data</a:t>
            </a:r>
            <a:endParaRPr lang="en-US" sz="1200" dirty="0"/>
          </a:p>
          <a:p>
            <a:pPr marL="342900" indent="-342900">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Every price is traceable to a feed and a session</a:t>
            </a:r>
            <a:endParaRPr lang="en-US" sz="1200" dirty="0"/>
          </a:p>
          <a:p>
            <a:pPr marL="342900" indent="-342900">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Risk limits bind — 926 candidates refused in one session</a:t>
            </a:r>
            <a:endParaRPr lang="en-US" sz="1200" dirty="0"/>
          </a:p>
          <a:p>
            <a:pPr marL="342900" indent="-342900">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725 automated tests; eight material bugs found and fixed</a:t>
            </a:r>
            <a:endParaRPr lang="en-US" sz="1200" dirty="0"/>
          </a:p>
        </p:txBody>
      </p:sp>
      <p:sp>
        <p:nvSpPr>
          <p:cNvPr id="6" name="Shape 4"/>
          <p:cNvSpPr/>
          <p:nvPr/>
        </p:nvSpPr>
        <p:spPr>
          <a:xfrm>
            <a:off x="6309360" y="2377440"/>
            <a:ext cx="5029200" cy="2743200"/>
          </a:xfrm>
          <a:prstGeom prst="roundRect">
            <a:avLst>
              <a:gd name="adj" fmla="val 2000"/>
            </a:avLst>
          </a:prstGeom>
          <a:solidFill>
            <a:srgbClr val="18213F"/>
          </a:solidFill>
          <a:ln w="12700">
            <a:solidFill>
              <a:srgbClr val="E2E8F2"/>
            </a:solidFill>
            <a:prstDash val="solid"/>
          </a:ln>
          <a:effectLst>
            <a:outerShdw sx="100000" sy="100000" kx="0" ky="0" algn="bl" rotWithShape="0" blurRad="101600" dist="12700" dir="5400000">
              <a:srgbClr val="9AA8C0">
                <a:alpha val="18000"/>
              </a:srgbClr>
            </a:outerShdw>
          </a:effectLst>
        </p:spPr>
      </p:sp>
      <p:sp>
        <p:nvSpPr>
          <p:cNvPr id="7" name="Text 5"/>
          <p:cNvSpPr/>
          <p:nvPr/>
        </p:nvSpPr>
        <p:spPr>
          <a:xfrm>
            <a:off x="6629400" y="2606040"/>
            <a:ext cx="4389120" cy="365760"/>
          </a:xfrm>
          <a:prstGeom prst="rect">
            <a:avLst/>
          </a:prstGeom>
          <a:noFill/>
          <a:ln/>
        </p:spPr>
        <p:txBody>
          <a:bodyPr wrap="square" lIns="0" tIns="0" rIns="0" bIns="0" rtlCol="0" anchor="ctr"/>
          <a:lstStyle/>
          <a:p>
            <a:pPr indent="0" marL="0">
              <a:buNone/>
            </a:pPr>
            <a:r>
              <a:rPr lang="en-US" sz="2000" b="1" dirty="0">
                <a:solidFill>
                  <a:srgbClr val="E0A94A"/>
                </a:solidFill>
                <a:latin typeface="Cambria" pitchFamily="34" charset="0"/>
                <a:ea typeface="Cambria" pitchFamily="34" charset="-122"/>
                <a:cs typeface="Cambria" pitchFamily="34" charset="-120"/>
              </a:rPr>
              <a:t>Not proven</a:t>
            </a:r>
            <a:endParaRPr lang="en-US" sz="2000" dirty="0"/>
          </a:p>
        </p:txBody>
      </p:sp>
      <p:sp>
        <p:nvSpPr>
          <p:cNvPr id="8" name="Text 6"/>
          <p:cNvSpPr/>
          <p:nvPr/>
        </p:nvSpPr>
        <p:spPr>
          <a:xfrm>
            <a:off x="6629400" y="3017520"/>
            <a:ext cx="4480560" cy="192024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That the strategies beat holding the index</a:t>
            </a:r>
            <a:endParaRPr lang="en-US" sz="1200" dirty="0"/>
          </a:p>
          <a:p>
            <a:pPr marL="342900" indent="-342900">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That the edge survives a regime it dislikes</a:t>
            </a:r>
            <a:endParaRPr lang="en-US" sz="1200" dirty="0"/>
          </a:p>
          <a:p>
            <a:pPr marL="342900" indent="-342900">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Any forward performance whatsoever</a:t>
            </a:r>
            <a:endParaRPr lang="en-US" sz="1200" dirty="0"/>
          </a:p>
          <a:p>
            <a:pPr marL="342900" indent="-342900">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That the multi-asset result survives honest futures sizing</a:t>
            </a:r>
            <a:endParaRPr lang="en-US" sz="1200" dirty="0"/>
          </a:p>
        </p:txBody>
      </p:sp>
      <p:sp>
        <p:nvSpPr>
          <p:cNvPr id="9" name="Text 7"/>
          <p:cNvSpPr/>
          <p:nvPr/>
        </p:nvSpPr>
        <p:spPr>
          <a:xfrm>
            <a:off x="822960" y="5440680"/>
            <a:ext cx="10241280" cy="36576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Every figure in this deck is reproducible from the repository.</a:t>
            </a:r>
            <a:endParaRPr lang="en-US" sz="1400" dirty="0"/>
          </a:p>
        </p:txBody>
      </p:sp>
      <p:sp>
        <p:nvSpPr>
          <p:cNvPr id="10" name="Text 8"/>
          <p:cNvSpPr/>
          <p:nvPr/>
        </p:nvSpPr>
        <p:spPr>
          <a:xfrm>
            <a:off x="822960" y="5897880"/>
            <a:ext cx="10241280" cy="640080"/>
          </a:xfrm>
          <a:prstGeom prst="rect">
            <a:avLst/>
          </a:prstGeom>
          <a:noFill/>
          <a:ln/>
        </p:spPr>
        <p:txBody>
          <a:bodyPr wrap="square" lIns="0" tIns="0" rIns="0" bIns="0" rtlCol="0" anchor="ctr"/>
          <a:lstStyle/>
          <a:p>
            <a:pPr indent="0" marL="0">
              <a:buNone/>
            </a:pPr>
            <a:r>
              <a:rPr lang="en-US" sz="950" dirty="0">
                <a:solidFill>
                  <a:srgbClr val="5A6B8C"/>
                </a:solidFill>
                <a:latin typeface="Calibri" pitchFamily="34" charset="0"/>
                <a:ea typeface="Calibri" pitchFamily="34" charset="-122"/>
                <a:cs typeface="Calibri" pitchFamily="34" charset="-120"/>
              </a:rPr>
              <a:t>Research and decision-support software only. Nothing here was executed automatically, nothing here is financial advice, and this document is not an offer or solicitation to buy or sell any security. Past behaviour is not predictive.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Trade Assistant — investor briefing</dc:title>
  <dc:subject>PptxGenJS Presentation</dc:subject>
  <dc:creator>Trade Assistant</dc:creator>
  <cp:lastModifiedBy>Trade Assistant</cp:lastModifiedBy>
  <cp:revision>1</cp:revision>
  <dcterms:created xsi:type="dcterms:W3CDTF">2026-10-01T22:20:26Z</dcterms:created>
  <dcterms:modified xsi:type="dcterms:W3CDTF">2026-10-01T22:20:26Z</dcterms:modified>
</cp:coreProperties>
</file>